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chemeClr val="accent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05840"/>
            <a:ext cx="1097280" cy="45720"/>
          </a:xfrm>
          <a:prstGeom prst="rect">
            <a:avLst/>
          </a:prstGeom>
          <a:solidFill>
            <a:schemeClr val="accent1"/>
          </a:solidFill>
          <a:ln/>
        </p:spPr>
      </p:sp>
      <p:sp>
        <p:nvSpPr>
          <p:cNvPr id="3" name="Text 1"/>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Gowtham M  |  AIML  |  Anudip Foundation</a:t>
            </a:r>
            <a:endParaRPr lang="en-US" sz="1000" dirty="0"/>
          </a:p>
        </p:txBody>
      </p:sp>
      <p:sp>
        <p:nvSpPr>
          <p:cNvPr id="4" name="Text 2"/>
          <p:cNvSpPr/>
          <p:nvPr>
            <p:ph idx="102" type="title" hasCustomPrompt="1"/>
          </p:nvPr>
        </p:nvSpPr>
        <p:spPr>
          <a:xfrm>
            <a:off x="548640" y="274320"/>
            <a:ext cx="1106424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188720"/>
            <a:ext cx="10241280" cy="1554480"/>
          </a:xfrm>
          <a:prstGeom prst="rect">
            <a:avLst/>
          </a:prstGeom>
          <a:noFill/>
          <a:ln/>
        </p:spPr>
        <p:txBody>
          <a:bodyPr wrap="square" lIns="0" tIns="0" rIns="0" bIns="0" rtlCol="0" anchor="ctr"/>
          <a:lstStyle/>
          <a:p>
            <a:pPr indent="0" marL="0">
              <a:buNone/>
            </a:pPr>
            <a:r>
              <a:rPr lang="en-US" sz="4000" b="1" dirty="0">
                <a:solidFill>
                  <a:schemeClr val="bg1"/>
                </a:solidFill>
              </a:rPr>
              <a:t>AI-Based IT Helpdesk Ticket Analysis &amp; Resolution Prediction</a:t>
            </a:r>
            <a:endParaRPr lang="en-US" sz="4000" dirty="0"/>
          </a:p>
        </p:txBody>
      </p:sp>
      <p:sp>
        <p:nvSpPr>
          <p:cNvPr id="3" name="Text 1"/>
          <p:cNvSpPr txBox="1"/>
          <p:nvPr/>
        </p:nvSpPr>
        <p:spPr>
          <a:xfrm>
            <a:off x="822960" y="2834640"/>
            <a:ext cx="7315200" cy="457200"/>
          </a:xfrm>
          <a:prstGeom prst="rect">
            <a:avLst/>
          </a:prstGeom>
          <a:noFill/>
          <a:ln/>
        </p:spPr>
        <p:txBody>
          <a:bodyPr wrap="square" lIns="0" tIns="0" rIns="0" bIns="0" rtlCol="0" anchor="t"/>
          <a:lstStyle/>
          <a:p>
            <a:pPr indent="0" marL="0">
              <a:buNone/>
            </a:pPr>
            <a:r>
              <a:rPr lang="en-US" sz="2200" dirty="0">
                <a:solidFill>
                  <a:srgbClr val="7DD3C8"/>
                </a:solidFill>
              </a:rPr>
              <a:t>Python Data Analysis Project</a:t>
            </a:r>
            <a:endParaRPr lang="en-US" sz="2200" dirty="0"/>
          </a:p>
        </p:txBody>
      </p:sp>
      <p:sp>
        <p:nvSpPr>
          <p:cNvPr id="4" name="Shape 2"/>
          <p:cNvSpPr/>
          <p:nvPr/>
        </p:nvSpPr>
        <p:spPr>
          <a:xfrm>
            <a:off x="822960" y="3474720"/>
            <a:ext cx="1280160" cy="45720"/>
          </a:xfrm>
          <a:prstGeom prst="rect">
            <a:avLst/>
          </a:prstGeom>
          <a:solidFill>
            <a:schemeClr val="accent1"/>
          </a:solidFill>
          <a:ln w="12700">
            <a:solidFill>
              <a:schemeClr val="accent1"/>
            </a:solidFill>
            <a:prstDash val="solid"/>
          </a:ln>
        </p:spPr>
      </p:sp>
      <p:sp>
        <p:nvSpPr>
          <p:cNvPr id="5" name="Text 3"/>
          <p:cNvSpPr txBox="1"/>
          <p:nvPr/>
        </p:nvSpPr>
        <p:spPr>
          <a:xfrm>
            <a:off x="822960" y="3840480"/>
            <a:ext cx="4572000" cy="228600"/>
          </a:xfrm>
          <a:prstGeom prst="rect">
            <a:avLst/>
          </a:prstGeom>
          <a:noFill/>
          <a:ln/>
        </p:spPr>
        <p:txBody>
          <a:bodyPr wrap="square" lIns="0" tIns="0" rIns="0" bIns="0" rtlCol="0" anchor="t"/>
          <a:lstStyle/>
          <a:p>
            <a:pPr indent="0" marL="0">
              <a:buNone/>
            </a:pPr>
            <a:r>
              <a:rPr lang="en-US" sz="1100" b="1" spc="200" kern="0" dirty="0">
                <a:solidFill>
                  <a:srgbClr val="7DD3C8"/>
                </a:solidFill>
              </a:rPr>
              <a:t>INDUSTRY</a:t>
            </a:r>
            <a:endParaRPr lang="en-US" sz="1100" dirty="0"/>
          </a:p>
        </p:txBody>
      </p:sp>
      <p:sp>
        <p:nvSpPr>
          <p:cNvPr id="6" name="Text 4"/>
          <p:cNvSpPr txBox="1"/>
          <p:nvPr/>
        </p:nvSpPr>
        <p:spPr>
          <a:xfrm>
            <a:off x="822960" y="4087368"/>
            <a:ext cx="4937760" cy="320040"/>
          </a:xfrm>
          <a:prstGeom prst="rect">
            <a:avLst/>
          </a:prstGeom>
          <a:noFill/>
          <a:ln/>
        </p:spPr>
        <p:txBody>
          <a:bodyPr wrap="square" lIns="0" tIns="0" rIns="0" bIns="0" rtlCol="0" anchor="t"/>
          <a:lstStyle/>
          <a:p>
            <a:pPr indent="0" marL="0">
              <a:buNone/>
            </a:pPr>
            <a:r>
              <a:rPr lang="en-US" sz="1700" dirty="0">
                <a:solidFill>
                  <a:schemeClr val="bg1"/>
                </a:solidFill>
              </a:rPr>
              <a:t>IT Helpdesk / IT Support</a:t>
            </a:r>
            <a:endParaRPr lang="en-US" sz="1700" dirty="0"/>
          </a:p>
        </p:txBody>
      </p:sp>
      <p:sp>
        <p:nvSpPr>
          <p:cNvPr id="7" name="Text 5"/>
          <p:cNvSpPr txBox="1"/>
          <p:nvPr/>
        </p:nvSpPr>
        <p:spPr>
          <a:xfrm>
            <a:off x="6126480" y="3840480"/>
            <a:ext cx="4572000" cy="228600"/>
          </a:xfrm>
          <a:prstGeom prst="rect">
            <a:avLst/>
          </a:prstGeom>
          <a:noFill/>
          <a:ln/>
        </p:spPr>
        <p:txBody>
          <a:bodyPr wrap="square" lIns="0" tIns="0" rIns="0" bIns="0" rtlCol="0" anchor="t"/>
          <a:lstStyle/>
          <a:p>
            <a:pPr indent="0" marL="0">
              <a:buNone/>
            </a:pPr>
            <a:r>
              <a:rPr lang="en-US" sz="1100" b="1" spc="200" kern="0" dirty="0">
                <a:solidFill>
                  <a:srgbClr val="7DD3C8"/>
                </a:solidFill>
              </a:rPr>
              <a:t>STUDENT NAME</a:t>
            </a:r>
            <a:endParaRPr lang="en-US" sz="1100" dirty="0"/>
          </a:p>
        </p:txBody>
      </p:sp>
      <p:sp>
        <p:nvSpPr>
          <p:cNvPr id="8" name="Text 6"/>
          <p:cNvSpPr txBox="1"/>
          <p:nvPr/>
        </p:nvSpPr>
        <p:spPr>
          <a:xfrm>
            <a:off x="6126480" y="4087368"/>
            <a:ext cx="4937760" cy="320040"/>
          </a:xfrm>
          <a:prstGeom prst="rect">
            <a:avLst/>
          </a:prstGeom>
          <a:noFill/>
          <a:ln/>
        </p:spPr>
        <p:txBody>
          <a:bodyPr wrap="square" lIns="0" tIns="0" rIns="0" bIns="0" rtlCol="0" anchor="t"/>
          <a:lstStyle/>
          <a:p>
            <a:pPr indent="0" marL="0">
              <a:buNone/>
            </a:pPr>
            <a:r>
              <a:rPr lang="en-US" sz="1700" dirty="0">
                <a:solidFill>
                  <a:schemeClr val="bg1"/>
                </a:solidFill>
              </a:rPr>
              <a:t>Gowtham M</a:t>
            </a:r>
            <a:endParaRPr lang="en-US" sz="1700" dirty="0"/>
          </a:p>
        </p:txBody>
      </p:sp>
      <p:sp>
        <p:nvSpPr>
          <p:cNvPr id="9" name="Text 7"/>
          <p:cNvSpPr txBox="1"/>
          <p:nvPr/>
        </p:nvSpPr>
        <p:spPr>
          <a:xfrm>
            <a:off x="822960" y="4572000"/>
            <a:ext cx="4572000" cy="228600"/>
          </a:xfrm>
          <a:prstGeom prst="rect">
            <a:avLst/>
          </a:prstGeom>
          <a:noFill/>
          <a:ln/>
        </p:spPr>
        <p:txBody>
          <a:bodyPr wrap="square" lIns="0" tIns="0" rIns="0" bIns="0" rtlCol="0" anchor="t"/>
          <a:lstStyle/>
          <a:p>
            <a:pPr indent="0" marL="0">
              <a:buNone/>
            </a:pPr>
            <a:r>
              <a:rPr lang="en-US" sz="1100" b="1" spc="200" kern="0" dirty="0">
                <a:solidFill>
                  <a:srgbClr val="7DD3C8"/>
                </a:solidFill>
              </a:rPr>
              <a:t>STUDENT ID</a:t>
            </a:r>
            <a:endParaRPr lang="en-US" sz="1100" dirty="0"/>
          </a:p>
        </p:txBody>
      </p:sp>
      <p:sp>
        <p:nvSpPr>
          <p:cNvPr id="10" name="Text 8"/>
          <p:cNvSpPr txBox="1"/>
          <p:nvPr/>
        </p:nvSpPr>
        <p:spPr>
          <a:xfrm>
            <a:off x="822960" y="4818888"/>
            <a:ext cx="4937760" cy="320040"/>
          </a:xfrm>
          <a:prstGeom prst="rect">
            <a:avLst/>
          </a:prstGeom>
          <a:noFill/>
          <a:ln/>
        </p:spPr>
        <p:txBody>
          <a:bodyPr wrap="square" lIns="0" tIns="0" rIns="0" bIns="0" rtlCol="0" anchor="t"/>
          <a:lstStyle/>
          <a:p>
            <a:pPr indent="0" marL="0">
              <a:buNone/>
            </a:pPr>
            <a:r>
              <a:rPr lang="en-US" sz="1700" dirty="0">
                <a:solidFill>
                  <a:schemeClr val="bg1"/>
                </a:solidFill>
              </a:rPr>
              <a:t>AF05309798</a:t>
            </a:r>
            <a:endParaRPr lang="en-US" sz="1700" dirty="0"/>
          </a:p>
        </p:txBody>
      </p:sp>
      <p:sp>
        <p:nvSpPr>
          <p:cNvPr id="11" name="Text 9"/>
          <p:cNvSpPr txBox="1"/>
          <p:nvPr/>
        </p:nvSpPr>
        <p:spPr>
          <a:xfrm>
            <a:off x="6126480" y="4572000"/>
            <a:ext cx="4572000" cy="228600"/>
          </a:xfrm>
          <a:prstGeom prst="rect">
            <a:avLst/>
          </a:prstGeom>
          <a:noFill/>
          <a:ln/>
        </p:spPr>
        <p:txBody>
          <a:bodyPr wrap="square" lIns="0" tIns="0" rIns="0" bIns="0" rtlCol="0" anchor="t"/>
          <a:lstStyle/>
          <a:p>
            <a:pPr indent="0" marL="0">
              <a:buNone/>
            </a:pPr>
            <a:r>
              <a:rPr lang="en-US" sz="1100" b="1" spc="200" kern="0" dirty="0">
                <a:solidFill>
                  <a:srgbClr val="7DD3C8"/>
                </a:solidFill>
              </a:rPr>
              <a:t>COURSE</a:t>
            </a:r>
            <a:endParaRPr lang="en-US" sz="1100" dirty="0"/>
          </a:p>
        </p:txBody>
      </p:sp>
      <p:sp>
        <p:nvSpPr>
          <p:cNvPr id="12" name="Text 10"/>
          <p:cNvSpPr txBox="1"/>
          <p:nvPr/>
        </p:nvSpPr>
        <p:spPr>
          <a:xfrm>
            <a:off x="6126480" y="4818888"/>
            <a:ext cx="4937760" cy="320040"/>
          </a:xfrm>
          <a:prstGeom prst="rect">
            <a:avLst/>
          </a:prstGeom>
          <a:noFill/>
          <a:ln/>
        </p:spPr>
        <p:txBody>
          <a:bodyPr wrap="square" lIns="0" tIns="0" rIns="0" bIns="0" rtlCol="0" anchor="t"/>
          <a:lstStyle/>
          <a:p>
            <a:pPr indent="0" marL="0">
              <a:buNone/>
            </a:pPr>
            <a:r>
              <a:rPr lang="en-US" sz="1700" dirty="0">
                <a:solidFill>
                  <a:schemeClr val="bg1"/>
                </a:solidFill>
              </a:rPr>
              <a:t>AIML</a:t>
            </a:r>
            <a:endParaRPr lang="en-US" sz="1700" dirty="0"/>
          </a:p>
        </p:txBody>
      </p:sp>
      <p:sp>
        <p:nvSpPr>
          <p:cNvPr id="13" name="Text 11"/>
          <p:cNvSpPr txBox="1"/>
          <p:nvPr/>
        </p:nvSpPr>
        <p:spPr>
          <a:xfrm>
            <a:off x="822960" y="5303520"/>
            <a:ext cx="4572000" cy="228600"/>
          </a:xfrm>
          <a:prstGeom prst="rect">
            <a:avLst/>
          </a:prstGeom>
          <a:noFill/>
          <a:ln/>
        </p:spPr>
        <p:txBody>
          <a:bodyPr wrap="square" lIns="0" tIns="0" rIns="0" bIns="0" rtlCol="0" anchor="t"/>
          <a:lstStyle/>
          <a:p>
            <a:pPr indent="0" marL="0">
              <a:buNone/>
            </a:pPr>
            <a:r>
              <a:rPr lang="en-US" sz="1100" b="1" spc="200" kern="0" dirty="0">
                <a:solidFill>
                  <a:srgbClr val="7DD3C8"/>
                </a:solidFill>
              </a:rPr>
              <a:t>ORGANIZATION</a:t>
            </a:r>
            <a:endParaRPr lang="en-US" sz="1100" dirty="0"/>
          </a:p>
        </p:txBody>
      </p:sp>
      <p:sp>
        <p:nvSpPr>
          <p:cNvPr id="14" name="Text 12"/>
          <p:cNvSpPr txBox="1"/>
          <p:nvPr/>
        </p:nvSpPr>
        <p:spPr>
          <a:xfrm>
            <a:off x="822960" y="5550408"/>
            <a:ext cx="4937760" cy="320040"/>
          </a:xfrm>
          <a:prstGeom prst="rect">
            <a:avLst/>
          </a:prstGeom>
          <a:noFill/>
          <a:ln/>
        </p:spPr>
        <p:txBody>
          <a:bodyPr wrap="square" lIns="0" tIns="0" rIns="0" bIns="0" rtlCol="0" anchor="t"/>
          <a:lstStyle/>
          <a:p>
            <a:pPr indent="0" marL="0">
              <a:buNone/>
            </a:pPr>
            <a:r>
              <a:rPr lang="en-US" sz="1700" dirty="0">
                <a:solidFill>
                  <a:schemeClr val="bg1"/>
                </a:solidFill>
              </a:rPr>
              <a:t>Anudip Foundation</a:t>
            </a:r>
            <a:endParaRPr lang="en-US" sz="1700" dirty="0"/>
          </a:p>
        </p:txBody>
      </p:sp>
      <p:sp>
        <p:nvSpPr>
          <p:cNvPr id="15" name="Text 13"/>
          <p:cNvSpPr txBox="1"/>
          <p:nvPr/>
        </p:nvSpPr>
        <p:spPr>
          <a:xfrm>
            <a:off x="6126480" y="5303520"/>
            <a:ext cx="4572000" cy="228600"/>
          </a:xfrm>
          <a:prstGeom prst="rect">
            <a:avLst/>
          </a:prstGeom>
          <a:noFill/>
          <a:ln/>
        </p:spPr>
        <p:txBody>
          <a:bodyPr wrap="square" lIns="0" tIns="0" rIns="0" bIns="0" rtlCol="0" anchor="t"/>
          <a:lstStyle/>
          <a:p>
            <a:pPr indent="0" marL="0">
              <a:buNone/>
            </a:pPr>
            <a:r>
              <a:rPr lang="en-US" sz="1100" b="1" spc="200" kern="0" dirty="0">
                <a:solidFill>
                  <a:srgbClr val="7DD3C8"/>
                </a:solidFill>
              </a:rPr>
              <a:t>BATCH CODE</a:t>
            </a:r>
            <a:endParaRPr lang="en-US" sz="1100" dirty="0"/>
          </a:p>
        </p:txBody>
      </p:sp>
      <p:sp>
        <p:nvSpPr>
          <p:cNvPr id="16" name="Text 14"/>
          <p:cNvSpPr txBox="1"/>
          <p:nvPr/>
        </p:nvSpPr>
        <p:spPr>
          <a:xfrm>
            <a:off x="6126480" y="5550408"/>
            <a:ext cx="4937760" cy="320040"/>
          </a:xfrm>
          <a:prstGeom prst="rect">
            <a:avLst/>
          </a:prstGeom>
          <a:noFill/>
          <a:ln/>
        </p:spPr>
        <p:txBody>
          <a:bodyPr wrap="square" lIns="0" tIns="0" rIns="0" bIns="0" rtlCol="0" anchor="t"/>
          <a:lstStyle/>
          <a:p>
            <a:pPr indent="0" marL="0">
              <a:buNone/>
            </a:pPr>
            <a:r>
              <a:rPr lang="en-US" sz="1700" dirty="0">
                <a:solidFill>
                  <a:schemeClr val="bg1"/>
                </a:solidFill>
              </a:rPr>
              <a:t>ANP-D7444</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Industry Overview</a:t>
            </a:r>
            <a:endParaRPr lang="en-US" sz="2800" dirty="0"/>
          </a:p>
        </p:txBody>
      </p:sp>
      <p:sp>
        <p:nvSpPr>
          <p:cNvPr id="3" name="Text 1"/>
          <p:cNvSpPr txBox="1"/>
          <p:nvPr/>
        </p:nvSpPr>
        <p:spPr>
          <a:xfrm>
            <a:off x="548640" y="1280160"/>
            <a:ext cx="10972800" cy="365760"/>
          </a:xfrm>
          <a:prstGeom prst="rect">
            <a:avLst/>
          </a:prstGeom>
          <a:noFill/>
          <a:ln/>
        </p:spPr>
        <p:txBody>
          <a:bodyPr wrap="square" lIns="0" tIns="0" rIns="0" bIns="0" rtlCol="0" anchor="t"/>
          <a:lstStyle/>
          <a:p>
            <a:pPr indent="0" marL="0">
              <a:buNone/>
            </a:pPr>
            <a:r>
              <a:rPr lang="en-US" sz="1800" b="1" dirty="0">
                <a:solidFill>
                  <a:schemeClr val="accent1"/>
                </a:solidFill>
              </a:rPr>
              <a:t>Industry: </a:t>
            </a:r>
            <a:pPr indent="0" marL="0">
              <a:buNone/>
            </a:pPr>
            <a:r>
              <a:rPr lang="en-US" sz="1800" dirty="0">
                <a:solidFill>
                  <a:schemeClr val="tx1"/>
                </a:solidFill>
              </a:rPr>
              <a:t>IT Helpdesk / IT Support</a:t>
            </a:r>
            <a:endParaRPr lang="en-US" sz="1800" dirty="0"/>
          </a:p>
        </p:txBody>
      </p:sp>
      <p:sp>
        <p:nvSpPr>
          <p:cNvPr id="4" name="card What IT helpdesks do"/>
          <p:cNvSpPr/>
          <p:nvPr/>
        </p:nvSpPr>
        <p:spPr>
          <a:xfrm>
            <a:off x="548640" y="1828800"/>
            <a:ext cx="5120640" cy="3017520"/>
          </a:xfrm>
          <a:prstGeom prst="rect">
            <a:avLst/>
          </a:prstGeom>
          <a:solidFill>
            <a:schemeClr val="bg2"/>
          </a:solidFill>
          <a:ln w="12700">
            <a:solidFill>
              <a:schemeClr val="bg2"/>
            </a:solidFill>
            <a:prstDash val="solid"/>
          </a:ln>
        </p:spPr>
      </p:sp>
      <p:sp>
        <p:nvSpPr>
          <p:cNvPr id="5" name="Shape 3"/>
          <p:cNvSpPr/>
          <p:nvPr/>
        </p:nvSpPr>
        <p:spPr>
          <a:xfrm>
            <a:off x="548640" y="1828800"/>
            <a:ext cx="54864" cy="3017520"/>
          </a:xfrm>
          <a:prstGeom prst="rect">
            <a:avLst/>
          </a:prstGeom>
          <a:solidFill>
            <a:schemeClr val="accent1"/>
          </a:solidFill>
          <a:ln w="12700">
            <a:solidFill>
              <a:schemeClr val="accent1"/>
            </a:solidFill>
            <a:prstDash val="solid"/>
          </a:ln>
        </p:spPr>
      </p:sp>
      <p:sp>
        <p:nvSpPr>
          <p:cNvPr id="6" name="Text 4"/>
          <p:cNvSpPr txBox="1"/>
          <p:nvPr/>
        </p:nvSpPr>
        <p:spPr>
          <a:xfrm>
            <a:off x="777240" y="1938528"/>
            <a:ext cx="4754880" cy="320040"/>
          </a:xfrm>
          <a:prstGeom prst="rect">
            <a:avLst/>
          </a:prstGeom>
          <a:noFill/>
          <a:ln/>
        </p:spPr>
        <p:txBody>
          <a:bodyPr wrap="square" lIns="0" tIns="0" rIns="0" bIns="0" rtlCol="0" anchor="t"/>
          <a:lstStyle/>
          <a:p>
            <a:pPr indent="0" marL="0">
              <a:buNone/>
            </a:pPr>
            <a:r>
              <a:rPr lang="en-US" sz="1500" b="1" dirty="0">
                <a:solidFill>
                  <a:schemeClr val="tx2"/>
                </a:solidFill>
              </a:rPr>
              <a:t>What IT helpdesks do</a:t>
            </a:r>
            <a:endParaRPr lang="en-US" sz="1500" dirty="0"/>
          </a:p>
        </p:txBody>
      </p:sp>
      <p:sp>
        <p:nvSpPr>
          <p:cNvPr id="7" name="Text 5"/>
          <p:cNvSpPr txBox="1"/>
          <p:nvPr/>
        </p:nvSpPr>
        <p:spPr>
          <a:xfrm>
            <a:off x="777240" y="2304288"/>
            <a:ext cx="4754880" cy="24688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IT helpdesk systems handle technical issues and support requests.</a:t>
            </a:r>
            <a:endParaRPr lang="en-US" sz="1600" dirty="0"/>
          </a:p>
          <a:p>
            <a:pPr marL="342900" indent="-342900">
              <a:spcAft>
                <a:spcPts val="1000"/>
              </a:spcAft>
              <a:buSzPct val="100000"/>
              <a:buChar char="•"/>
            </a:pPr>
            <a:r>
              <a:rPr lang="en-US" sz="1600" dirty="0">
                <a:solidFill>
                  <a:schemeClr val="tx1"/>
                </a:solidFill>
              </a:rPr>
              <a:t>Each request is recorded and tracked as a ticket.</a:t>
            </a:r>
            <a:endParaRPr lang="en-US" sz="1600" dirty="0"/>
          </a:p>
          <a:p>
            <a:pPr marL="342900" indent="-342900">
              <a:spcAft>
                <a:spcPts val="1000"/>
              </a:spcAft>
              <a:buSzPct val="100000"/>
              <a:buChar char="•"/>
            </a:pPr>
            <a:r>
              <a:rPr lang="en-US" sz="1600" dirty="0">
                <a:solidFill>
                  <a:schemeClr val="tx1"/>
                </a:solidFill>
              </a:rPr>
              <a:t>Tickets move from creation to resolution.</a:t>
            </a:r>
            <a:endParaRPr lang="en-US" sz="1600" dirty="0"/>
          </a:p>
        </p:txBody>
      </p:sp>
      <p:sp>
        <p:nvSpPr>
          <p:cNvPr id="8" name="card Why data analysis is useful"/>
          <p:cNvSpPr/>
          <p:nvPr/>
        </p:nvSpPr>
        <p:spPr>
          <a:xfrm>
            <a:off x="5943600" y="1828800"/>
            <a:ext cx="5669280" cy="3017520"/>
          </a:xfrm>
          <a:prstGeom prst="rect">
            <a:avLst/>
          </a:prstGeom>
          <a:solidFill>
            <a:schemeClr val="bg2"/>
          </a:solidFill>
          <a:ln w="12700">
            <a:solidFill>
              <a:schemeClr val="bg2"/>
            </a:solidFill>
            <a:prstDash val="solid"/>
          </a:ln>
        </p:spPr>
      </p:sp>
      <p:sp>
        <p:nvSpPr>
          <p:cNvPr id="9" name="Shape 7"/>
          <p:cNvSpPr/>
          <p:nvPr/>
        </p:nvSpPr>
        <p:spPr>
          <a:xfrm>
            <a:off x="5943600" y="1828800"/>
            <a:ext cx="54864" cy="3017520"/>
          </a:xfrm>
          <a:prstGeom prst="rect">
            <a:avLst/>
          </a:prstGeom>
          <a:solidFill>
            <a:schemeClr val="accent2"/>
          </a:solidFill>
          <a:ln w="12700">
            <a:solidFill>
              <a:schemeClr val="accent2"/>
            </a:solidFill>
            <a:prstDash val="solid"/>
          </a:ln>
        </p:spPr>
      </p:sp>
      <p:sp>
        <p:nvSpPr>
          <p:cNvPr id="10" name="Text 8"/>
          <p:cNvSpPr txBox="1"/>
          <p:nvPr/>
        </p:nvSpPr>
        <p:spPr>
          <a:xfrm>
            <a:off x="6172200" y="1938528"/>
            <a:ext cx="5303520" cy="320040"/>
          </a:xfrm>
          <a:prstGeom prst="rect">
            <a:avLst/>
          </a:prstGeom>
          <a:noFill/>
          <a:ln/>
        </p:spPr>
        <p:txBody>
          <a:bodyPr wrap="square" lIns="0" tIns="0" rIns="0" bIns="0" rtlCol="0" anchor="t"/>
          <a:lstStyle/>
          <a:p>
            <a:pPr indent="0" marL="0">
              <a:buNone/>
            </a:pPr>
            <a:r>
              <a:rPr lang="en-US" sz="1500" b="1" dirty="0">
                <a:solidFill>
                  <a:schemeClr val="tx2"/>
                </a:solidFill>
              </a:rPr>
              <a:t>Why data analysis is useful</a:t>
            </a:r>
            <a:endParaRPr lang="en-US" sz="1500" dirty="0"/>
          </a:p>
        </p:txBody>
      </p:sp>
      <p:sp>
        <p:nvSpPr>
          <p:cNvPr id="11" name="Text 9"/>
          <p:cNvSpPr txBox="1"/>
          <p:nvPr/>
        </p:nvSpPr>
        <p:spPr>
          <a:xfrm>
            <a:off x="6172200" y="2304288"/>
            <a:ext cx="5303520" cy="24688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Large volumes of support tickets are generated.</a:t>
            </a:r>
            <a:endParaRPr lang="en-US" sz="1600" dirty="0"/>
          </a:p>
          <a:p>
            <a:pPr marL="342900" indent="-342900">
              <a:spcAft>
                <a:spcPts val="1000"/>
              </a:spcAft>
              <a:buSzPct val="100000"/>
              <a:buChar char="•"/>
            </a:pPr>
            <a:r>
              <a:rPr lang="en-US" sz="1600" dirty="0">
                <a:solidFill>
                  <a:schemeClr val="tx1"/>
                </a:solidFill>
              </a:rPr>
              <a:t>Ticket data holds issues, priority, projects, comments, contributors and resolution time.</a:t>
            </a:r>
            <a:endParaRPr lang="en-US" sz="1600" dirty="0"/>
          </a:p>
          <a:p>
            <a:pPr marL="342900" indent="-342900">
              <a:spcAft>
                <a:spcPts val="1000"/>
              </a:spcAft>
              <a:buSzPct val="100000"/>
              <a:buChar char="•"/>
            </a:pPr>
            <a:r>
              <a:rPr lang="en-US" sz="1600" dirty="0">
                <a:solidFill>
                  <a:schemeClr val="tx1"/>
                </a:solidFill>
              </a:rPr>
              <a:t>Analysis helps reveal ticket patterns and resolution behavior.</a:t>
            </a:r>
            <a:endParaRPr lang="en-US" sz="1600" dirty="0"/>
          </a:p>
        </p:txBody>
      </p:sp>
      <p:sp>
        <p:nvSpPr>
          <p:cNvPr id="12" name="Shape 10"/>
          <p:cNvSpPr/>
          <p:nvPr/>
        </p:nvSpPr>
        <p:spPr>
          <a:xfrm>
            <a:off x="548640" y="5349240"/>
            <a:ext cx="1737360" cy="457200"/>
          </a:xfrm>
          <a:prstGeom prst="roundRect">
            <a:avLst>
              <a:gd name="adj" fmla="val 20000"/>
            </a:avLst>
          </a:prstGeom>
          <a:solidFill>
            <a:schemeClr val="tx2"/>
          </a:solidFill>
          <a:ln w="12700">
            <a:solidFill>
              <a:schemeClr val="tx2"/>
            </a:solidFill>
            <a:prstDash val="solid"/>
          </a:ln>
        </p:spPr>
      </p:sp>
      <p:sp>
        <p:nvSpPr>
          <p:cNvPr id="13" name="Text 11"/>
          <p:cNvSpPr txBox="1"/>
          <p:nvPr/>
        </p:nvSpPr>
        <p:spPr>
          <a:xfrm>
            <a:off x="548640" y="5349240"/>
            <a:ext cx="1737360" cy="457200"/>
          </a:xfrm>
          <a:prstGeom prst="rect">
            <a:avLst/>
          </a:prstGeom>
          <a:noFill/>
          <a:ln/>
        </p:spPr>
        <p:txBody>
          <a:bodyPr wrap="square" lIns="0" tIns="0" rIns="0" bIns="0" rtlCol="0" anchor="ctr"/>
          <a:lstStyle/>
          <a:p>
            <a:pPr algn="ctr" indent="0" marL="0">
              <a:buNone/>
            </a:pPr>
            <a:r>
              <a:rPr lang="en-US" sz="1300" b="1" dirty="0">
                <a:solidFill>
                  <a:schemeClr val="bg1"/>
                </a:solidFill>
              </a:rPr>
              <a:t>Issue type</a:t>
            </a:r>
            <a:endParaRPr lang="en-US" sz="1300" dirty="0"/>
          </a:p>
        </p:txBody>
      </p:sp>
      <p:sp>
        <p:nvSpPr>
          <p:cNvPr id="14" name="Shape 12"/>
          <p:cNvSpPr/>
          <p:nvPr/>
        </p:nvSpPr>
        <p:spPr>
          <a:xfrm>
            <a:off x="2423160" y="5349240"/>
            <a:ext cx="1737360" cy="457200"/>
          </a:xfrm>
          <a:prstGeom prst="roundRect">
            <a:avLst>
              <a:gd name="adj" fmla="val 20000"/>
            </a:avLst>
          </a:prstGeom>
          <a:solidFill>
            <a:schemeClr val="tx2"/>
          </a:solidFill>
          <a:ln w="12700">
            <a:solidFill>
              <a:schemeClr val="tx2"/>
            </a:solidFill>
            <a:prstDash val="solid"/>
          </a:ln>
        </p:spPr>
      </p:sp>
      <p:sp>
        <p:nvSpPr>
          <p:cNvPr id="15" name="Text 13"/>
          <p:cNvSpPr txBox="1"/>
          <p:nvPr/>
        </p:nvSpPr>
        <p:spPr>
          <a:xfrm>
            <a:off x="2423160" y="5349240"/>
            <a:ext cx="1737360" cy="457200"/>
          </a:xfrm>
          <a:prstGeom prst="rect">
            <a:avLst/>
          </a:prstGeom>
          <a:noFill/>
          <a:ln/>
        </p:spPr>
        <p:txBody>
          <a:bodyPr wrap="square" lIns="0" tIns="0" rIns="0" bIns="0" rtlCol="0" anchor="ctr"/>
          <a:lstStyle/>
          <a:p>
            <a:pPr algn="ctr" indent="0" marL="0">
              <a:buNone/>
            </a:pPr>
            <a:r>
              <a:rPr lang="en-US" sz="1300" b="1" dirty="0">
                <a:solidFill>
                  <a:schemeClr val="bg1"/>
                </a:solidFill>
              </a:rPr>
              <a:t>Priority</a:t>
            </a:r>
            <a:endParaRPr lang="en-US" sz="1300" dirty="0"/>
          </a:p>
        </p:txBody>
      </p:sp>
      <p:sp>
        <p:nvSpPr>
          <p:cNvPr id="16" name="Shape 14"/>
          <p:cNvSpPr/>
          <p:nvPr/>
        </p:nvSpPr>
        <p:spPr>
          <a:xfrm>
            <a:off x="4297680" y="5349240"/>
            <a:ext cx="1737360" cy="457200"/>
          </a:xfrm>
          <a:prstGeom prst="roundRect">
            <a:avLst>
              <a:gd name="adj" fmla="val 20000"/>
            </a:avLst>
          </a:prstGeom>
          <a:solidFill>
            <a:schemeClr val="tx2"/>
          </a:solidFill>
          <a:ln w="12700">
            <a:solidFill>
              <a:schemeClr val="tx2"/>
            </a:solidFill>
            <a:prstDash val="solid"/>
          </a:ln>
        </p:spPr>
      </p:sp>
      <p:sp>
        <p:nvSpPr>
          <p:cNvPr id="17" name="Text 15"/>
          <p:cNvSpPr txBox="1"/>
          <p:nvPr/>
        </p:nvSpPr>
        <p:spPr>
          <a:xfrm>
            <a:off x="4297680" y="5349240"/>
            <a:ext cx="1737360" cy="457200"/>
          </a:xfrm>
          <a:prstGeom prst="rect">
            <a:avLst/>
          </a:prstGeom>
          <a:noFill/>
          <a:ln/>
        </p:spPr>
        <p:txBody>
          <a:bodyPr wrap="square" lIns="0" tIns="0" rIns="0" bIns="0" rtlCol="0" anchor="ctr"/>
          <a:lstStyle/>
          <a:p>
            <a:pPr algn="ctr" indent="0" marL="0">
              <a:buNone/>
            </a:pPr>
            <a:r>
              <a:rPr lang="en-US" sz="1300" b="1" dirty="0">
                <a:solidFill>
                  <a:schemeClr val="bg1"/>
                </a:solidFill>
              </a:rPr>
              <a:t>Project</a:t>
            </a:r>
            <a:endParaRPr lang="en-US" sz="1300" dirty="0"/>
          </a:p>
        </p:txBody>
      </p:sp>
      <p:sp>
        <p:nvSpPr>
          <p:cNvPr id="18" name="Shape 16"/>
          <p:cNvSpPr/>
          <p:nvPr/>
        </p:nvSpPr>
        <p:spPr>
          <a:xfrm>
            <a:off x="6172200" y="5349240"/>
            <a:ext cx="1737360" cy="457200"/>
          </a:xfrm>
          <a:prstGeom prst="roundRect">
            <a:avLst>
              <a:gd name="adj" fmla="val 20000"/>
            </a:avLst>
          </a:prstGeom>
          <a:solidFill>
            <a:schemeClr val="tx2"/>
          </a:solidFill>
          <a:ln w="12700">
            <a:solidFill>
              <a:schemeClr val="tx2"/>
            </a:solidFill>
            <a:prstDash val="solid"/>
          </a:ln>
        </p:spPr>
      </p:sp>
      <p:sp>
        <p:nvSpPr>
          <p:cNvPr id="19" name="Text 17"/>
          <p:cNvSpPr txBox="1"/>
          <p:nvPr/>
        </p:nvSpPr>
        <p:spPr>
          <a:xfrm>
            <a:off x="6172200" y="5349240"/>
            <a:ext cx="1737360" cy="457200"/>
          </a:xfrm>
          <a:prstGeom prst="rect">
            <a:avLst/>
          </a:prstGeom>
          <a:noFill/>
          <a:ln/>
        </p:spPr>
        <p:txBody>
          <a:bodyPr wrap="square" lIns="0" tIns="0" rIns="0" bIns="0" rtlCol="0" anchor="ctr"/>
          <a:lstStyle/>
          <a:p>
            <a:pPr algn="ctr" indent="0" marL="0">
              <a:buNone/>
            </a:pPr>
            <a:r>
              <a:rPr lang="en-US" sz="1300" b="1" dirty="0">
                <a:solidFill>
                  <a:schemeClr val="bg1"/>
                </a:solidFill>
              </a:rPr>
              <a:t>Comments</a:t>
            </a:r>
            <a:endParaRPr lang="en-US" sz="1300" dirty="0"/>
          </a:p>
        </p:txBody>
      </p:sp>
      <p:sp>
        <p:nvSpPr>
          <p:cNvPr id="20" name="Shape 18"/>
          <p:cNvSpPr/>
          <p:nvPr/>
        </p:nvSpPr>
        <p:spPr>
          <a:xfrm>
            <a:off x="8046720" y="5349240"/>
            <a:ext cx="1737360" cy="457200"/>
          </a:xfrm>
          <a:prstGeom prst="roundRect">
            <a:avLst>
              <a:gd name="adj" fmla="val 20000"/>
            </a:avLst>
          </a:prstGeom>
          <a:solidFill>
            <a:schemeClr val="tx2"/>
          </a:solidFill>
          <a:ln w="12700">
            <a:solidFill>
              <a:schemeClr val="tx2"/>
            </a:solidFill>
            <a:prstDash val="solid"/>
          </a:ln>
        </p:spPr>
      </p:sp>
      <p:sp>
        <p:nvSpPr>
          <p:cNvPr id="21" name="Text 19"/>
          <p:cNvSpPr txBox="1"/>
          <p:nvPr/>
        </p:nvSpPr>
        <p:spPr>
          <a:xfrm>
            <a:off x="8046720" y="5349240"/>
            <a:ext cx="1737360" cy="457200"/>
          </a:xfrm>
          <a:prstGeom prst="rect">
            <a:avLst/>
          </a:prstGeom>
          <a:noFill/>
          <a:ln/>
        </p:spPr>
        <p:txBody>
          <a:bodyPr wrap="square" lIns="0" tIns="0" rIns="0" bIns="0" rtlCol="0" anchor="ctr"/>
          <a:lstStyle/>
          <a:p>
            <a:pPr algn="ctr" indent="0" marL="0">
              <a:buNone/>
            </a:pPr>
            <a:r>
              <a:rPr lang="en-US" sz="1300" b="1" dirty="0">
                <a:solidFill>
                  <a:schemeClr val="bg1"/>
                </a:solidFill>
              </a:rPr>
              <a:t>Contributors</a:t>
            </a:r>
            <a:endParaRPr lang="en-US" sz="1300" dirty="0"/>
          </a:p>
        </p:txBody>
      </p:sp>
      <p:sp>
        <p:nvSpPr>
          <p:cNvPr id="22" name="Shape 20"/>
          <p:cNvSpPr/>
          <p:nvPr/>
        </p:nvSpPr>
        <p:spPr>
          <a:xfrm>
            <a:off x="9921240" y="5349240"/>
            <a:ext cx="1737360" cy="457200"/>
          </a:xfrm>
          <a:prstGeom prst="roundRect">
            <a:avLst>
              <a:gd name="adj" fmla="val 20000"/>
            </a:avLst>
          </a:prstGeom>
          <a:solidFill>
            <a:schemeClr val="tx2"/>
          </a:solidFill>
          <a:ln w="12700">
            <a:solidFill>
              <a:schemeClr val="tx2"/>
            </a:solidFill>
            <a:prstDash val="solid"/>
          </a:ln>
        </p:spPr>
      </p:sp>
      <p:sp>
        <p:nvSpPr>
          <p:cNvPr id="23" name="Text 21"/>
          <p:cNvSpPr txBox="1"/>
          <p:nvPr/>
        </p:nvSpPr>
        <p:spPr>
          <a:xfrm>
            <a:off x="9921240" y="5349240"/>
            <a:ext cx="1737360" cy="457200"/>
          </a:xfrm>
          <a:prstGeom prst="rect">
            <a:avLst/>
          </a:prstGeom>
          <a:noFill/>
          <a:ln/>
        </p:spPr>
        <p:txBody>
          <a:bodyPr wrap="square" lIns="0" tIns="0" rIns="0" bIns="0" rtlCol="0" anchor="ctr"/>
          <a:lstStyle/>
          <a:p>
            <a:pPr algn="ctr" indent="0" marL="0">
              <a:buNone/>
            </a:pPr>
            <a:r>
              <a:rPr lang="en-US" sz="1300" b="1" dirty="0">
                <a:solidFill>
                  <a:schemeClr val="bg1"/>
                </a:solidFill>
              </a:rPr>
              <a:t>Resolution time</a:t>
            </a:r>
            <a:endParaRPr lang="en-US" sz="1300" dirty="0"/>
          </a:p>
        </p:txBody>
      </p:sp>
      <p:sp>
        <p:nvSpPr>
          <p:cNvPr id="24" name="Text 22"/>
          <p:cNvSpPr txBox="1"/>
          <p:nvPr/>
        </p:nvSpPr>
        <p:spPr>
          <a:xfrm>
            <a:off x="548640" y="5029200"/>
            <a:ext cx="5486400" cy="274320"/>
          </a:xfrm>
          <a:prstGeom prst="rect">
            <a:avLst/>
          </a:prstGeom>
          <a:noFill/>
          <a:ln/>
        </p:spPr>
        <p:txBody>
          <a:bodyPr wrap="square" lIns="0" tIns="0" rIns="0" bIns="0" rtlCol="0" anchor="t"/>
          <a:lstStyle/>
          <a:p>
            <a:pPr indent="0" marL="0">
              <a:buNone/>
            </a:pPr>
            <a:r>
              <a:rPr lang="en-US" sz="1200" dirty="0">
                <a:solidFill>
                  <a:schemeClr val="accent4"/>
                </a:solidFill>
              </a:rPr>
              <a:t>Ticket attributes available for analysis</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Problem Statement</a:t>
            </a:r>
            <a:endParaRPr lang="en-US" sz="2800" dirty="0"/>
          </a:p>
        </p:txBody>
      </p:sp>
      <p:sp>
        <p:nvSpPr>
          <p:cNvPr id="3" name="Shape 1"/>
          <p:cNvSpPr/>
          <p:nvPr/>
        </p:nvSpPr>
        <p:spPr>
          <a:xfrm>
            <a:off x="548640" y="1280160"/>
            <a:ext cx="6035040" cy="4754880"/>
          </a:xfrm>
          <a:prstGeom prst="rect">
            <a:avLst/>
          </a:prstGeom>
          <a:solidFill>
            <a:schemeClr val="bg2"/>
          </a:solidFill>
          <a:ln w="12700">
            <a:solidFill>
              <a:schemeClr val="bg2"/>
            </a:solidFill>
            <a:prstDash val="solid"/>
          </a:ln>
        </p:spPr>
      </p:sp>
      <p:sp>
        <p:nvSpPr>
          <p:cNvPr id="4" name="Shape 2"/>
          <p:cNvSpPr/>
          <p:nvPr/>
        </p:nvSpPr>
        <p:spPr>
          <a:xfrm>
            <a:off x="548640" y="1280160"/>
            <a:ext cx="54864" cy="4754880"/>
          </a:xfrm>
          <a:prstGeom prst="rect">
            <a:avLst/>
          </a:prstGeom>
          <a:solidFill>
            <a:schemeClr val="accent1"/>
          </a:solidFill>
          <a:ln w="12700">
            <a:solidFill>
              <a:schemeClr val="accent1"/>
            </a:solidFill>
            <a:prstDash val="solid"/>
          </a:ln>
        </p:spPr>
      </p:sp>
      <p:sp>
        <p:nvSpPr>
          <p:cNvPr id="5" name="Text 3"/>
          <p:cNvSpPr txBox="1"/>
          <p:nvPr/>
        </p:nvSpPr>
        <p:spPr>
          <a:xfrm>
            <a:off x="868680" y="1508760"/>
            <a:ext cx="5486400" cy="4389120"/>
          </a:xfrm>
          <a:prstGeom prst="rect">
            <a:avLst/>
          </a:prstGeom>
          <a:noFill/>
          <a:ln/>
        </p:spPr>
        <p:txBody>
          <a:bodyPr wrap="square" lIns="0" tIns="0" rIns="0" bIns="0" rtlCol="0" anchor="t"/>
          <a:lstStyle/>
          <a:p>
            <a:pPr indent="0" marL="0">
              <a:spcAft>
                <a:spcPts val="1200"/>
              </a:spcAft>
              <a:buNone/>
            </a:pPr>
            <a:r>
              <a:rPr lang="en-US" sz="1500" dirty="0">
                <a:solidFill>
                  <a:schemeClr val="tx1"/>
                </a:solidFill>
              </a:rPr>
              <a:t>IT organizations handle a large volume of helpdesk tickets related to technical issues and support requests. However, analyzing these tickets manually makes it difficult to identify recurring problems, understand resolution patterns, and estimate how long a new ticket may take to resolve.</a:t>
            </a:r>
            <a:endParaRPr lang="en-US" sz="1500" dirty="0"/>
          </a:p>
          <a:p>
            <a:pPr indent="0" marL="0">
              <a:buNone/>
            </a:pPr>
            <a:r>
              <a:rPr lang="en-US" sz="1500" dirty="0">
                <a:solidFill>
                  <a:schemeClr val="tx1"/>
                </a:solidFill>
              </a:rPr>
              <a:t>This project focuses on analyzing IT helpdesk ticket data to understand ticket patterns, priority, issue types, project-wise ticket distribution, and resolution time.</a:t>
            </a:r>
            <a:endParaRPr lang="en-US" sz="1500" dirty="0"/>
          </a:p>
        </p:txBody>
      </p:sp>
      <p:sp>
        <p:nvSpPr>
          <p:cNvPr id="6" name="card Why is it important?"/>
          <p:cNvSpPr/>
          <p:nvPr/>
        </p:nvSpPr>
        <p:spPr>
          <a:xfrm>
            <a:off x="6858000" y="1280160"/>
            <a:ext cx="4754880" cy="2377440"/>
          </a:xfrm>
          <a:prstGeom prst="rect">
            <a:avLst/>
          </a:prstGeom>
          <a:solidFill>
            <a:schemeClr val="bg2"/>
          </a:solidFill>
          <a:ln w="12700">
            <a:solidFill>
              <a:schemeClr val="bg2"/>
            </a:solidFill>
            <a:prstDash val="solid"/>
          </a:ln>
        </p:spPr>
      </p:sp>
      <p:sp>
        <p:nvSpPr>
          <p:cNvPr id="7" name="Shape 5"/>
          <p:cNvSpPr/>
          <p:nvPr/>
        </p:nvSpPr>
        <p:spPr>
          <a:xfrm>
            <a:off x="6858000" y="1280160"/>
            <a:ext cx="54864" cy="2377440"/>
          </a:xfrm>
          <a:prstGeom prst="rect">
            <a:avLst/>
          </a:prstGeom>
          <a:solidFill>
            <a:schemeClr val="accent2"/>
          </a:solidFill>
          <a:ln w="12700">
            <a:solidFill>
              <a:schemeClr val="accent2"/>
            </a:solidFill>
            <a:prstDash val="solid"/>
          </a:ln>
        </p:spPr>
      </p:sp>
      <p:sp>
        <p:nvSpPr>
          <p:cNvPr id="8" name="Text 6"/>
          <p:cNvSpPr txBox="1"/>
          <p:nvPr/>
        </p:nvSpPr>
        <p:spPr>
          <a:xfrm>
            <a:off x="7086600" y="1389888"/>
            <a:ext cx="4389120" cy="320040"/>
          </a:xfrm>
          <a:prstGeom prst="rect">
            <a:avLst/>
          </a:prstGeom>
          <a:noFill/>
          <a:ln/>
        </p:spPr>
        <p:txBody>
          <a:bodyPr wrap="square" lIns="0" tIns="0" rIns="0" bIns="0" rtlCol="0" anchor="t"/>
          <a:lstStyle/>
          <a:p>
            <a:pPr indent="0" marL="0">
              <a:buNone/>
            </a:pPr>
            <a:r>
              <a:rPr lang="en-US" sz="1500" b="1" dirty="0">
                <a:solidFill>
                  <a:schemeClr val="tx2"/>
                </a:solidFill>
              </a:rPr>
              <a:t>Why is it important?</a:t>
            </a:r>
            <a:endParaRPr lang="en-US" sz="1500" dirty="0"/>
          </a:p>
        </p:txBody>
      </p:sp>
      <p:sp>
        <p:nvSpPr>
          <p:cNvPr id="9" name="Text 7"/>
          <p:cNvSpPr txBox="1"/>
          <p:nvPr/>
        </p:nvSpPr>
        <p:spPr>
          <a:xfrm>
            <a:off x="7086600" y="1755648"/>
            <a:ext cx="438912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Manual analysis of large ticket datasets is difficult.</a:t>
            </a:r>
            <a:endParaRPr lang="en-US" sz="1500" dirty="0"/>
          </a:p>
          <a:p>
            <a:pPr marL="342900" indent="-342900">
              <a:spcAft>
                <a:spcPts val="800"/>
              </a:spcAft>
              <a:buSzPct val="100000"/>
              <a:buChar char="•"/>
            </a:pPr>
            <a:r>
              <a:rPr lang="en-US" sz="1500" dirty="0">
                <a:solidFill>
                  <a:schemeClr val="tx1"/>
                </a:solidFill>
              </a:rPr>
              <a:t>Understanding resolution patterns supports support analysis.</a:t>
            </a:r>
            <a:endParaRPr lang="en-US" sz="1500" dirty="0"/>
          </a:p>
          <a:p>
            <a:pPr marL="342900" indent="-342900">
              <a:spcAft>
                <a:spcPts val="800"/>
              </a:spcAft>
              <a:buSzPct val="100000"/>
              <a:buChar char="•"/>
            </a:pPr>
            <a:r>
              <a:rPr lang="en-US" sz="1500" dirty="0">
                <a:solidFill>
                  <a:schemeClr val="tx1"/>
                </a:solidFill>
              </a:rPr>
              <a:t>Ticket patterns can be studied through structured data analysis.</a:t>
            </a:r>
            <a:endParaRPr lang="en-US" sz="1500" dirty="0"/>
          </a:p>
        </p:txBody>
      </p:sp>
      <p:sp>
        <p:nvSpPr>
          <p:cNvPr id="10" name="card Who is affected?"/>
          <p:cNvSpPr/>
          <p:nvPr/>
        </p:nvSpPr>
        <p:spPr>
          <a:xfrm>
            <a:off x="6858000" y="3840480"/>
            <a:ext cx="4754880" cy="2194560"/>
          </a:xfrm>
          <a:prstGeom prst="rect">
            <a:avLst/>
          </a:prstGeom>
          <a:solidFill>
            <a:schemeClr val="bg2"/>
          </a:solidFill>
          <a:ln w="12700">
            <a:solidFill>
              <a:schemeClr val="bg2"/>
            </a:solidFill>
            <a:prstDash val="solid"/>
          </a:ln>
        </p:spPr>
      </p:sp>
      <p:sp>
        <p:nvSpPr>
          <p:cNvPr id="11" name="Shape 9"/>
          <p:cNvSpPr/>
          <p:nvPr/>
        </p:nvSpPr>
        <p:spPr>
          <a:xfrm>
            <a:off x="6858000" y="3840480"/>
            <a:ext cx="54864" cy="2194560"/>
          </a:xfrm>
          <a:prstGeom prst="rect">
            <a:avLst/>
          </a:prstGeom>
          <a:solidFill>
            <a:schemeClr val="accent1"/>
          </a:solidFill>
          <a:ln w="12700">
            <a:solidFill>
              <a:schemeClr val="accent1"/>
            </a:solidFill>
            <a:prstDash val="solid"/>
          </a:ln>
        </p:spPr>
      </p:sp>
      <p:sp>
        <p:nvSpPr>
          <p:cNvPr id="12" name="Text 10"/>
          <p:cNvSpPr txBox="1"/>
          <p:nvPr/>
        </p:nvSpPr>
        <p:spPr>
          <a:xfrm>
            <a:off x="7086600" y="3950208"/>
            <a:ext cx="4389120" cy="320040"/>
          </a:xfrm>
          <a:prstGeom prst="rect">
            <a:avLst/>
          </a:prstGeom>
          <a:noFill/>
          <a:ln/>
        </p:spPr>
        <p:txBody>
          <a:bodyPr wrap="square" lIns="0" tIns="0" rIns="0" bIns="0" rtlCol="0" anchor="t"/>
          <a:lstStyle/>
          <a:p>
            <a:pPr indent="0" marL="0">
              <a:buNone/>
            </a:pPr>
            <a:r>
              <a:rPr lang="en-US" sz="1500" b="1" dirty="0">
                <a:solidFill>
                  <a:schemeClr val="tx2"/>
                </a:solidFill>
              </a:rPr>
              <a:t>Who is affected?</a:t>
            </a:r>
            <a:endParaRPr lang="en-US" sz="1500" dirty="0"/>
          </a:p>
        </p:txBody>
      </p:sp>
      <p:sp>
        <p:nvSpPr>
          <p:cNvPr id="13" name="Text 11"/>
          <p:cNvSpPr txBox="1"/>
          <p:nvPr/>
        </p:nvSpPr>
        <p:spPr>
          <a:xfrm>
            <a:off x="7086600" y="4315968"/>
            <a:ext cx="4389120" cy="1645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IT organizations</a:t>
            </a:r>
            <a:endParaRPr lang="en-US" sz="1500" dirty="0"/>
          </a:p>
          <a:p>
            <a:pPr marL="342900" indent="-342900">
              <a:spcAft>
                <a:spcPts val="800"/>
              </a:spcAft>
              <a:buSzPct val="100000"/>
              <a:buChar char="•"/>
            </a:pPr>
            <a:r>
              <a:rPr lang="en-US" sz="1500" dirty="0">
                <a:solidFill>
                  <a:schemeClr val="tx1"/>
                </a:solidFill>
              </a:rPr>
              <a:t>IT helpdesk / support teams</a:t>
            </a:r>
            <a:endParaRPr lang="en-US" sz="1500" dirty="0"/>
          </a:p>
          <a:p>
            <a:pPr marL="342900" indent="-342900">
              <a:spcAft>
                <a:spcPts val="800"/>
              </a:spcAft>
              <a:buSzPct val="100000"/>
              <a:buChar char="•"/>
            </a:pPr>
            <a:r>
              <a:rPr lang="en-US" sz="1500" dirty="0">
                <a:solidFill>
                  <a:schemeClr val="tx1"/>
                </a:solidFill>
              </a:rPr>
              <a:t>Teams that handle and resolve support tickets</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Project Objectives</a:t>
            </a:r>
            <a:endParaRPr lang="en-US" sz="2800" dirty="0"/>
          </a:p>
        </p:txBody>
      </p:sp>
      <p:sp>
        <p:nvSpPr>
          <p:cNvPr id="3" name="Shape 1"/>
          <p:cNvSpPr/>
          <p:nvPr/>
        </p:nvSpPr>
        <p:spPr>
          <a:xfrm>
            <a:off x="548640" y="1280160"/>
            <a:ext cx="548640" cy="548640"/>
          </a:xfrm>
          <a:prstGeom prst="ellipse">
            <a:avLst/>
          </a:prstGeom>
          <a:solidFill>
            <a:schemeClr val="accent1"/>
          </a:solidFill>
          <a:ln w="12700">
            <a:solidFill>
              <a:schemeClr val="accent1"/>
            </a:solidFill>
            <a:prstDash val="solid"/>
          </a:ln>
        </p:spPr>
      </p:sp>
      <p:sp>
        <p:nvSpPr>
          <p:cNvPr id="4" name="Text 2"/>
          <p:cNvSpPr txBox="1"/>
          <p:nvPr/>
        </p:nvSpPr>
        <p:spPr>
          <a:xfrm>
            <a:off x="548640" y="12801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325880" y="1280160"/>
            <a:ext cx="10058400" cy="548640"/>
          </a:xfrm>
          <a:prstGeom prst="rect">
            <a:avLst/>
          </a:prstGeom>
          <a:noFill/>
          <a:ln/>
        </p:spPr>
        <p:txBody>
          <a:bodyPr wrap="square" lIns="0" tIns="0" rIns="0" bIns="0" rtlCol="0" anchor="ctr"/>
          <a:lstStyle/>
          <a:p>
            <a:pPr indent="0" marL="0">
              <a:buNone/>
            </a:pPr>
            <a:r>
              <a:rPr lang="en-US" sz="1800" dirty="0">
                <a:solidFill>
                  <a:schemeClr val="tx1"/>
                </a:solidFill>
              </a:rPr>
              <a:t>Understand the structure and quality of the IT helpdesk ticket dataset.</a:t>
            </a:r>
            <a:endParaRPr lang="en-US" sz="1800" dirty="0"/>
          </a:p>
        </p:txBody>
      </p:sp>
      <p:sp>
        <p:nvSpPr>
          <p:cNvPr id="6" name="Shape 4"/>
          <p:cNvSpPr/>
          <p:nvPr/>
        </p:nvSpPr>
        <p:spPr>
          <a:xfrm>
            <a:off x="548640" y="2029968"/>
            <a:ext cx="548640" cy="548640"/>
          </a:xfrm>
          <a:prstGeom prst="ellipse">
            <a:avLst/>
          </a:prstGeom>
          <a:solidFill>
            <a:schemeClr val="accent1"/>
          </a:solidFill>
          <a:ln w="12700">
            <a:solidFill>
              <a:schemeClr val="accent1"/>
            </a:solidFill>
            <a:prstDash val="solid"/>
          </a:ln>
        </p:spPr>
      </p:sp>
      <p:sp>
        <p:nvSpPr>
          <p:cNvPr id="7" name="Text 5"/>
          <p:cNvSpPr txBox="1"/>
          <p:nvPr/>
        </p:nvSpPr>
        <p:spPr>
          <a:xfrm>
            <a:off x="548640" y="2029968"/>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Text 6"/>
          <p:cNvSpPr txBox="1"/>
          <p:nvPr/>
        </p:nvSpPr>
        <p:spPr>
          <a:xfrm>
            <a:off x="1325880" y="2029968"/>
            <a:ext cx="10058400" cy="548640"/>
          </a:xfrm>
          <a:prstGeom prst="rect">
            <a:avLst/>
          </a:prstGeom>
          <a:noFill/>
          <a:ln/>
        </p:spPr>
        <p:txBody>
          <a:bodyPr wrap="square" lIns="0" tIns="0" rIns="0" bIns="0" rtlCol="0" anchor="ctr"/>
          <a:lstStyle/>
          <a:p>
            <a:pPr indent="0" marL="0">
              <a:buNone/>
            </a:pPr>
            <a:r>
              <a:rPr lang="en-US" sz="1800" dirty="0">
                <a:solidFill>
                  <a:schemeClr val="tx1"/>
                </a:solidFill>
              </a:rPr>
              <a:t>Clean and prepare relevant ticket data for analysis.</a:t>
            </a:r>
            <a:endParaRPr lang="en-US" sz="1800" dirty="0"/>
          </a:p>
        </p:txBody>
      </p:sp>
      <p:sp>
        <p:nvSpPr>
          <p:cNvPr id="9" name="Shape 7"/>
          <p:cNvSpPr/>
          <p:nvPr/>
        </p:nvSpPr>
        <p:spPr>
          <a:xfrm>
            <a:off x="548640" y="2779776"/>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548640" y="2779776"/>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Text 9"/>
          <p:cNvSpPr txBox="1"/>
          <p:nvPr/>
        </p:nvSpPr>
        <p:spPr>
          <a:xfrm>
            <a:off x="1325880" y="2779776"/>
            <a:ext cx="10058400" cy="548640"/>
          </a:xfrm>
          <a:prstGeom prst="rect">
            <a:avLst/>
          </a:prstGeom>
          <a:noFill/>
          <a:ln/>
        </p:spPr>
        <p:txBody>
          <a:bodyPr wrap="square" lIns="0" tIns="0" rIns="0" bIns="0" rtlCol="0" anchor="ctr"/>
          <a:lstStyle/>
          <a:p>
            <a:pPr indent="0" marL="0">
              <a:buNone/>
            </a:pPr>
            <a:r>
              <a:rPr lang="en-US" sz="1800" dirty="0">
                <a:solidFill>
                  <a:schemeClr val="tx1"/>
                </a:solidFill>
              </a:rPr>
              <a:t>Analyze ticket priority, issue types, and project-wise ticket distribution.</a:t>
            </a:r>
            <a:endParaRPr lang="en-US" sz="1800" dirty="0"/>
          </a:p>
        </p:txBody>
      </p:sp>
      <p:sp>
        <p:nvSpPr>
          <p:cNvPr id="12" name="Shape 10"/>
          <p:cNvSpPr/>
          <p:nvPr/>
        </p:nvSpPr>
        <p:spPr>
          <a:xfrm>
            <a:off x="548640" y="3529584"/>
            <a:ext cx="548640" cy="548640"/>
          </a:xfrm>
          <a:prstGeom prst="ellipse">
            <a:avLst/>
          </a:prstGeom>
          <a:solidFill>
            <a:schemeClr val="accent1"/>
          </a:solidFill>
          <a:ln w="12700">
            <a:solidFill>
              <a:schemeClr val="accent1"/>
            </a:solidFill>
            <a:prstDash val="solid"/>
          </a:ln>
        </p:spPr>
      </p:sp>
      <p:sp>
        <p:nvSpPr>
          <p:cNvPr id="13" name="Text 11"/>
          <p:cNvSpPr txBox="1"/>
          <p:nvPr/>
        </p:nvSpPr>
        <p:spPr>
          <a:xfrm>
            <a:off x="548640" y="3529584"/>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Text 12"/>
          <p:cNvSpPr txBox="1"/>
          <p:nvPr/>
        </p:nvSpPr>
        <p:spPr>
          <a:xfrm>
            <a:off x="1325880" y="3529584"/>
            <a:ext cx="10058400" cy="548640"/>
          </a:xfrm>
          <a:prstGeom prst="rect">
            <a:avLst/>
          </a:prstGeom>
          <a:noFill/>
          <a:ln/>
        </p:spPr>
        <p:txBody>
          <a:bodyPr wrap="square" lIns="0" tIns="0" rIns="0" bIns="0" rtlCol="0" anchor="ctr"/>
          <a:lstStyle/>
          <a:p>
            <a:pPr indent="0" marL="0">
              <a:buNone/>
            </a:pPr>
            <a:r>
              <a:rPr lang="en-US" sz="1800" dirty="0">
                <a:solidFill>
                  <a:schemeClr val="tx1"/>
                </a:solidFill>
              </a:rPr>
              <a:t>Calculate and analyze ticket resolution time.</a:t>
            </a:r>
            <a:endParaRPr lang="en-US" sz="1800" dirty="0"/>
          </a:p>
        </p:txBody>
      </p:sp>
      <p:sp>
        <p:nvSpPr>
          <p:cNvPr id="15" name="Shape 13"/>
          <p:cNvSpPr/>
          <p:nvPr/>
        </p:nvSpPr>
        <p:spPr>
          <a:xfrm>
            <a:off x="548640" y="4279392"/>
            <a:ext cx="548640" cy="548640"/>
          </a:xfrm>
          <a:prstGeom prst="ellipse">
            <a:avLst/>
          </a:prstGeom>
          <a:solidFill>
            <a:schemeClr val="accent1"/>
          </a:solidFill>
          <a:ln w="12700">
            <a:solidFill>
              <a:schemeClr val="accent1"/>
            </a:solidFill>
            <a:prstDash val="solid"/>
          </a:ln>
        </p:spPr>
      </p:sp>
      <p:sp>
        <p:nvSpPr>
          <p:cNvPr id="16" name="Text 14"/>
          <p:cNvSpPr txBox="1"/>
          <p:nvPr/>
        </p:nvSpPr>
        <p:spPr>
          <a:xfrm>
            <a:off x="548640" y="427939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7" name="Text 15"/>
          <p:cNvSpPr txBox="1"/>
          <p:nvPr/>
        </p:nvSpPr>
        <p:spPr>
          <a:xfrm>
            <a:off x="1325880" y="4279392"/>
            <a:ext cx="10058400" cy="548640"/>
          </a:xfrm>
          <a:prstGeom prst="rect">
            <a:avLst/>
          </a:prstGeom>
          <a:noFill/>
          <a:ln/>
        </p:spPr>
        <p:txBody>
          <a:bodyPr wrap="square" lIns="0" tIns="0" rIns="0" bIns="0" rtlCol="0" anchor="ctr"/>
          <a:lstStyle/>
          <a:p>
            <a:pPr indent="0" marL="0">
              <a:buNone/>
            </a:pPr>
            <a:r>
              <a:rPr lang="en-US" sz="1800" dirty="0">
                <a:solidFill>
                  <a:schemeClr val="tx1"/>
                </a:solidFill>
              </a:rPr>
              <a:t>Visualize important patterns using Matplotlib.</a:t>
            </a:r>
            <a:endParaRPr lang="en-US" sz="1800" dirty="0"/>
          </a:p>
        </p:txBody>
      </p:sp>
      <p:sp>
        <p:nvSpPr>
          <p:cNvPr id="18" name="Text 16"/>
          <p:cNvSpPr txBox="1"/>
          <p:nvPr/>
        </p:nvSpPr>
        <p:spPr>
          <a:xfrm>
            <a:off x="548640" y="5120640"/>
            <a:ext cx="548640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PROJECT WORKFLOW</a:t>
            </a:r>
            <a:endParaRPr lang="en-US" sz="1100" dirty="0"/>
          </a:p>
        </p:txBody>
      </p:sp>
      <p:sp>
        <p:nvSpPr>
          <p:cNvPr id="19" name="Shape 17"/>
          <p:cNvSpPr/>
          <p:nvPr/>
        </p:nvSpPr>
        <p:spPr>
          <a:xfrm>
            <a:off x="548640" y="5394960"/>
            <a:ext cx="1161288" cy="685800"/>
          </a:xfrm>
          <a:prstGeom prst="rect">
            <a:avLst/>
          </a:prstGeom>
          <a:solidFill>
            <a:schemeClr val="tx2"/>
          </a:solidFill>
          <a:ln w="12700">
            <a:solidFill>
              <a:schemeClr val="bg1"/>
            </a:solidFill>
            <a:prstDash val="solid"/>
          </a:ln>
        </p:spPr>
      </p:sp>
      <p:sp>
        <p:nvSpPr>
          <p:cNvPr id="20" name="Text 18"/>
          <p:cNvSpPr txBox="1"/>
          <p:nvPr/>
        </p:nvSpPr>
        <p:spPr>
          <a:xfrm>
            <a:off x="548640" y="5394960"/>
            <a:ext cx="1161288" cy="685800"/>
          </a:xfrm>
          <a:prstGeom prst="rect">
            <a:avLst/>
          </a:prstGeom>
          <a:noFill/>
          <a:ln/>
        </p:spPr>
        <p:txBody>
          <a:bodyPr wrap="square" lIns="508" tIns="508" rIns="508" bIns="508" rtlCol="0" anchor="ctr"/>
          <a:lstStyle/>
          <a:p>
            <a:pPr algn="ctr" indent="0" marL="0">
              <a:buNone/>
            </a:pPr>
            <a:r>
              <a:rPr lang="en-US" sz="1050" b="1" dirty="0">
                <a:solidFill>
                  <a:schemeClr val="bg1"/>
                </a:solidFill>
              </a:rPr>
              <a:t>Industry Selection</a:t>
            </a:r>
            <a:endParaRPr lang="en-US" sz="1050" dirty="0"/>
          </a:p>
        </p:txBody>
      </p:sp>
      <p:sp>
        <p:nvSpPr>
          <p:cNvPr id="21" name="Shape 19"/>
          <p:cNvSpPr/>
          <p:nvPr/>
        </p:nvSpPr>
        <p:spPr>
          <a:xfrm>
            <a:off x="1787652" y="5394960"/>
            <a:ext cx="1161288" cy="685800"/>
          </a:xfrm>
          <a:prstGeom prst="rect">
            <a:avLst/>
          </a:prstGeom>
          <a:solidFill>
            <a:schemeClr val="accent2"/>
          </a:solidFill>
          <a:ln w="12700">
            <a:solidFill>
              <a:schemeClr val="bg1"/>
            </a:solidFill>
            <a:prstDash val="solid"/>
          </a:ln>
        </p:spPr>
      </p:sp>
      <p:sp>
        <p:nvSpPr>
          <p:cNvPr id="22" name="Text 20"/>
          <p:cNvSpPr txBox="1"/>
          <p:nvPr/>
        </p:nvSpPr>
        <p:spPr>
          <a:xfrm>
            <a:off x="1787652" y="5394960"/>
            <a:ext cx="1161288" cy="685800"/>
          </a:xfrm>
          <a:prstGeom prst="rect">
            <a:avLst/>
          </a:prstGeom>
          <a:noFill/>
          <a:ln/>
        </p:spPr>
        <p:txBody>
          <a:bodyPr wrap="square" lIns="508" tIns="508" rIns="508" bIns="508" rtlCol="0" anchor="ctr"/>
          <a:lstStyle/>
          <a:p>
            <a:pPr algn="ctr" indent="0" marL="0">
              <a:buNone/>
            </a:pPr>
            <a:r>
              <a:rPr lang="en-US" sz="1050" b="1" dirty="0">
                <a:solidFill>
                  <a:schemeClr val="bg1"/>
                </a:solidFill>
              </a:rPr>
              <a:t>Problem Identification</a:t>
            </a:r>
            <a:endParaRPr lang="en-US" sz="1050" dirty="0"/>
          </a:p>
        </p:txBody>
      </p:sp>
      <p:sp>
        <p:nvSpPr>
          <p:cNvPr id="23" name="Shape 21"/>
          <p:cNvSpPr/>
          <p:nvPr/>
        </p:nvSpPr>
        <p:spPr>
          <a:xfrm>
            <a:off x="3026664" y="5394960"/>
            <a:ext cx="1161288" cy="685800"/>
          </a:xfrm>
          <a:prstGeom prst="rect">
            <a:avLst/>
          </a:prstGeom>
          <a:solidFill>
            <a:schemeClr val="tx2"/>
          </a:solidFill>
          <a:ln w="12700">
            <a:solidFill>
              <a:schemeClr val="bg1"/>
            </a:solidFill>
            <a:prstDash val="solid"/>
          </a:ln>
        </p:spPr>
      </p:sp>
      <p:sp>
        <p:nvSpPr>
          <p:cNvPr id="24" name="Text 22"/>
          <p:cNvSpPr txBox="1"/>
          <p:nvPr/>
        </p:nvSpPr>
        <p:spPr>
          <a:xfrm>
            <a:off x="3026664" y="5394960"/>
            <a:ext cx="1161288" cy="685800"/>
          </a:xfrm>
          <a:prstGeom prst="rect">
            <a:avLst/>
          </a:prstGeom>
          <a:noFill/>
          <a:ln/>
        </p:spPr>
        <p:txBody>
          <a:bodyPr wrap="square" lIns="508" tIns="508" rIns="508" bIns="508" rtlCol="0" anchor="ctr"/>
          <a:lstStyle/>
          <a:p>
            <a:pPr algn="ctr" indent="0" marL="0">
              <a:buNone/>
            </a:pPr>
            <a:r>
              <a:rPr lang="en-US" sz="1050" b="1" dirty="0">
                <a:solidFill>
                  <a:schemeClr val="bg1"/>
                </a:solidFill>
              </a:rPr>
              <a:t>Dataset Collection</a:t>
            </a:r>
            <a:endParaRPr lang="en-US" sz="1050" dirty="0"/>
          </a:p>
        </p:txBody>
      </p:sp>
      <p:sp>
        <p:nvSpPr>
          <p:cNvPr id="25" name="Shape 23"/>
          <p:cNvSpPr/>
          <p:nvPr/>
        </p:nvSpPr>
        <p:spPr>
          <a:xfrm>
            <a:off x="4265676" y="5394960"/>
            <a:ext cx="1161288" cy="685800"/>
          </a:xfrm>
          <a:prstGeom prst="rect">
            <a:avLst/>
          </a:prstGeom>
          <a:solidFill>
            <a:schemeClr val="accent2"/>
          </a:solidFill>
          <a:ln w="12700">
            <a:solidFill>
              <a:schemeClr val="bg1"/>
            </a:solidFill>
            <a:prstDash val="solid"/>
          </a:ln>
        </p:spPr>
      </p:sp>
      <p:sp>
        <p:nvSpPr>
          <p:cNvPr id="26" name="Text 24"/>
          <p:cNvSpPr txBox="1"/>
          <p:nvPr/>
        </p:nvSpPr>
        <p:spPr>
          <a:xfrm>
            <a:off x="4265676" y="5394960"/>
            <a:ext cx="1161288" cy="685800"/>
          </a:xfrm>
          <a:prstGeom prst="rect">
            <a:avLst/>
          </a:prstGeom>
          <a:noFill/>
          <a:ln/>
        </p:spPr>
        <p:txBody>
          <a:bodyPr wrap="square" lIns="508" tIns="508" rIns="508" bIns="508" rtlCol="0" anchor="ctr"/>
          <a:lstStyle/>
          <a:p>
            <a:pPr algn="ctr" indent="0" marL="0">
              <a:buNone/>
            </a:pPr>
            <a:r>
              <a:rPr lang="en-US" sz="1050" b="1" dirty="0">
                <a:solidFill>
                  <a:schemeClr val="bg1"/>
                </a:solidFill>
              </a:rPr>
              <a:t>Data Cleaning</a:t>
            </a:r>
            <a:endParaRPr lang="en-US" sz="1050" dirty="0"/>
          </a:p>
        </p:txBody>
      </p:sp>
      <p:sp>
        <p:nvSpPr>
          <p:cNvPr id="27" name="Shape 25"/>
          <p:cNvSpPr/>
          <p:nvPr/>
        </p:nvSpPr>
        <p:spPr>
          <a:xfrm>
            <a:off x="5504688" y="5394960"/>
            <a:ext cx="1161288" cy="685800"/>
          </a:xfrm>
          <a:prstGeom prst="rect">
            <a:avLst/>
          </a:prstGeom>
          <a:solidFill>
            <a:schemeClr val="tx2"/>
          </a:solidFill>
          <a:ln w="12700">
            <a:solidFill>
              <a:schemeClr val="bg1"/>
            </a:solidFill>
            <a:prstDash val="solid"/>
          </a:ln>
        </p:spPr>
      </p:sp>
      <p:sp>
        <p:nvSpPr>
          <p:cNvPr id="28" name="Text 26"/>
          <p:cNvSpPr txBox="1"/>
          <p:nvPr/>
        </p:nvSpPr>
        <p:spPr>
          <a:xfrm>
            <a:off x="5504688" y="5394960"/>
            <a:ext cx="1161288" cy="685800"/>
          </a:xfrm>
          <a:prstGeom prst="rect">
            <a:avLst/>
          </a:prstGeom>
          <a:noFill/>
          <a:ln/>
        </p:spPr>
        <p:txBody>
          <a:bodyPr wrap="square" lIns="508" tIns="508" rIns="508" bIns="508" rtlCol="0" anchor="ctr"/>
          <a:lstStyle/>
          <a:p>
            <a:pPr algn="ctr" indent="0" marL="0">
              <a:buNone/>
            </a:pPr>
            <a:r>
              <a:rPr lang="en-US" sz="1050" b="1" dirty="0">
                <a:solidFill>
                  <a:schemeClr val="bg1"/>
                </a:solidFill>
              </a:rPr>
              <a:t>Data Transformation</a:t>
            </a:r>
            <a:endParaRPr lang="en-US" sz="1050" dirty="0"/>
          </a:p>
        </p:txBody>
      </p:sp>
      <p:sp>
        <p:nvSpPr>
          <p:cNvPr id="29" name="Shape 27"/>
          <p:cNvSpPr/>
          <p:nvPr/>
        </p:nvSpPr>
        <p:spPr>
          <a:xfrm>
            <a:off x="6743700" y="5394960"/>
            <a:ext cx="1161288" cy="685800"/>
          </a:xfrm>
          <a:prstGeom prst="rect">
            <a:avLst/>
          </a:prstGeom>
          <a:solidFill>
            <a:schemeClr val="accent2"/>
          </a:solidFill>
          <a:ln w="12700">
            <a:solidFill>
              <a:schemeClr val="bg1"/>
            </a:solidFill>
            <a:prstDash val="solid"/>
          </a:ln>
        </p:spPr>
      </p:sp>
      <p:sp>
        <p:nvSpPr>
          <p:cNvPr id="30" name="Text 28"/>
          <p:cNvSpPr txBox="1"/>
          <p:nvPr/>
        </p:nvSpPr>
        <p:spPr>
          <a:xfrm>
            <a:off x="6743700" y="5394960"/>
            <a:ext cx="1161288" cy="685800"/>
          </a:xfrm>
          <a:prstGeom prst="rect">
            <a:avLst/>
          </a:prstGeom>
          <a:noFill/>
          <a:ln/>
        </p:spPr>
        <p:txBody>
          <a:bodyPr wrap="square" lIns="508" tIns="508" rIns="508" bIns="508" rtlCol="0" anchor="ctr"/>
          <a:lstStyle/>
          <a:p>
            <a:pPr algn="ctr" indent="0" marL="0">
              <a:buNone/>
            </a:pPr>
            <a:r>
              <a:rPr lang="en-US" sz="1050" b="1" dirty="0">
                <a:solidFill>
                  <a:schemeClr val="bg1"/>
                </a:solidFill>
              </a:rPr>
              <a:t>Data Analysis</a:t>
            </a:r>
            <a:endParaRPr lang="en-US" sz="1050" dirty="0"/>
          </a:p>
        </p:txBody>
      </p:sp>
      <p:sp>
        <p:nvSpPr>
          <p:cNvPr id="31" name="Shape 29"/>
          <p:cNvSpPr/>
          <p:nvPr/>
        </p:nvSpPr>
        <p:spPr>
          <a:xfrm>
            <a:off x="7982712" y="5394960"/>
            <a:ext cx="1161288" cy="685800"/>
          </a:xfrm>
          <a:prstGeom prst="rect">
            <a:avLst/>
          </a:prstGeom>
          <a:solidFill>
            <a:schemeClr val="tx2"/>
          </a:solidFill>
          <a:ln w="12700">
            <a:solidFill>
              <a:schemeClr val="bg1"/>
            </a:solidFill>
            <a:prstDash val="solid"/>
          </a:ln>
        </p:spPr>
      </p:sp>
      <p:sp>
        <p:nvSpPr>
          <p:cNvPr id="32" name="Text 30"/>
          <p:cNvSpPr txBox="1"/>
          <p:nvPr/>
        </p:nvSpPr>
        <p:spPr>
          <a:xfrm>
            <a:off x="7982712" y="5394960"/>
            <a:ext cx="1161288" cy="685800"/>
          </a:xfrm>
          <a:prstGeom prst="rect">
            <a:avLst/>
          </a:prstGeom>
          <a:noFill/>
          <a:ln/>
        </p:spPr>
        <p:txBody>
          <a:bodyPr wrap="square" lIns="508" tIns="508" rIns="508" bIns="508" rtlCol="0" anchor="ctr"/>
          <a:lstStyle/>
          <a:p>
            <a:pPr algn="ctr" indent="0" marL="0">
              <a:buNone/>
            </a:pPr>
            <a:r>
              <a:rPr lang="en-US" sz="1050" b="1" dirty="0">
                <a:solidFill>
                  <a:schemeClr val="bg1"/>
                </a:solidFill>
              </a:rPr>
              <a:t>Data Visualization</a:t>
            </a:r>
            <a:endParaRPr lang="en-US" sz="1050" dirty="0"/>
          </a:p>
        </p:txBody>
      </p:sp>
      <p:sp>
        <p:nvSpPr>
          <p:cNvPr id="33" name="Shape 31"/>
          <p:cNvSpPr/>
          <p:nvPr/>
        </p:nvSpPr>
        <p:spPr>
          <a:xfrm>
            <a:off x="9221724" y="5394960"/>
            <a:ext cx="1161288" cy="685800"/>
          </a:xfrm>
          <a:prstGeom prst="rect">
            <a:avLst/>
          </a:prstGeom>
          <a:solidFill>
            <a:schemeClr val="accent2"/>
          </a:solidFill>
          <a:ln w="12700">
            <a:solidFill>
              <a:schemeClr val="bg1"/>
            </a:solidFill>
            <a:prstDash val="solid"/>
          </a:ln>
        </p:spPr>
      </p:sp>
      <p:sp>
        <p:nvSpPr>
          <p:cNvPr id="34" name="Text 32"/>
          <p:cNvSpPr txBox="1"/>
          <p:nvPr/>
        </p:nvSpPr>
        <p:spPr>
          <a:xfrm>
            <a:off x="9221724" y="5394960"/>
            <a:ext cx="1161288" cy="685800"/>
          </a:xfrm>
          <a:prstGeom prst="rect">
            <a:avLst/>
          </a:prstGeom>
          <a:noFill/>
          <a:ln/>
        </p:spPr>
        <p:txBody>
          <a:bodyPr wrap="square" lIns="508" tIns="508" rIns="508" bIns="508" rtlCol="0" anchor="ctr"/>
          <a:lstStyle/>
          <a:p>
            <a:pPr algn="ctr" indent="0" marL="0">
              <a:buNone/>
            </a:pPr>
            <a:r>
              <a:rPr lang="en-US" sz="1050" b="1" dirty="0">
                <a:solidFill>
                  <a:schemeClr val="bg1"/>
                </a:solidFill>
              </a:rPr>
              <a:t>Insights</a:t>
            </a:r>
            <a:endParaRPr lang="en-US" sz="1050" dirty="0"/>
          </a:p>
        </p:txBody>
      </p:sp>
      <p:sp>
        <p:nvSpPr>
          <p:cNvPr id="35" name="Shape 33"/>
          <p:cNvSpPr/>
          <p:nvPr/>
        </p:nvSpPr>
        <p:spPr>
          <a:xfrm>
            <a:off x="10460736" y="5394960"/>
            <a:ext cx="1161288" cy="685800"/>
          </a:xfrm>
          <a:prstGeom prst="rect">
            <a:avLst/>
          </a:prstGeom>
          <a:solidFill>
            <a:schemeClr val="tx2"/>
          </a:solidFill>
          <a:ln w="12700">
            <a:solidFill>
              <a:schemeClr val="bg1"/>
            </a:solidFill>
            <a:prstDash val="solid"/>
          </a:ln>
        </p:spPr>
      </p:sp>
      <p:sp>
        <p:nvSpPr>
          <p:cNvPr id="36" name="Text 34"/>
          <p:cNvSpPr txBox="1"/>
          <p:nvPr/>
        </p:nvSpPr>
        <p:spPr>
          <a:xfrm>
            <a:off x="10460736" y="5394960"/>
            <a:ext cx="1161288" cy="685800"/>
          </a:xfrm>
          <a:prstGeom prst="rect">
            <a:avLst/>
          </a:prstGeom>
          <a:noFill/>
          <a:ln/>
        </p:spPr>
        <p:txBody>
          <a:bodyPr wrap="square" lIns="508" tIns="508" rIns="508" bIns="508" rtlCol="0" anchor="ctr"/>
          <a:lstStyle/>
          <a:p>
            <a:pPr algn="ctr" indent="0" marL="0">
              <a:buNone/>
            </a:pPr>
            <a:r>
              <a:rPr lang="en-US" sz="1050" b="1" dirty="0">
                <a:solidFill>
                  <a:schemeClr val="bg1"/>
                </a:solidFill>
              </a:rPr>
              <a:t>Recommendations</a:t>
            </a:r>
            <a:endParaRPr lang="en-US" sz="10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Proposed Solution &amp; Analysis Questions</a:t>
            </a:r>
            <a:endParaRPr lang="en-US" sz="2800" dirty="0"/>
          </a:p>
        </p:txBody>
      </p:sp>
      <p:sp>
        <p:nvSpPr>
          <p:cNvPr id="3" name="Text 1"/>
          <p:cNvSpPr txBox="1"/>
          <p:nvPr/>
        </p:nvSpPr>
        <p:spPr>
          <a:xfrm>
            <a:off x="548640" y="1280160"/>
            <a:ext cx="5120640" cy="822960"/>
          </a:xfrm>
          <a:prstGeom prst="rect">
            <a:avLst/>
          </a:prstGeom>
          <a:noFill/>
          <a:ln/>
        </p:spPr>
        <p:txBody>
          <a:bodyPr wrap="square" lIns="0" tIns="0" rIns="0" bIns="0" rtlCol="0" anchor="t"/>
          <a:lstStyle/>
          <a:p>
            <a:pPr indent="0" marL="0">
              <a:buNone/>
            </a:pPr>
            <a:r>
              <a:rPr lang="en-US" sz="1600" dirty="0">
                <a:solidFill>
                  <a:schemeClr val="tx1"/>
                </a:solidFill>
              </a:rPr>
              <a:t>Use Python-based data analysis to clean, transform, analyze, and visualize IT helpdesk ticket data.</a:t>
            </a:r>
            <a:endParaRPr lang="en-US" sz="1600" dirty="0"/>
          </a:p>
        </p:txBody>
      </p:sp>
      <p:sp>
        <p:nvSpPr>
          <p:cNvPr id="4" name="card Pandas"/>
          <p:cNvSpPr/>
          <p:nvPr/>
        </p:nvSpPr>
        <p:spPr>
          <a:xfrm>
            <a:off x="548640" y="2240280"/>
            <a:ext cx="5120640" cy="1143000"/>
          </a:xfrm>
          <a:prstGeom prst="rect">
            <a:avLst/>
          </a:prstGeom>
          <a:solidFill>
            <a:schemeClr val="bg2"/>
          </a:solidFill>
          <a:ln w="12700">
            <a:solidFill>
              <a:schemeClr val="bg2"/>
            </a:solidFill>
            <a:prstDash val="solid"/>
          </a:ln>
        </p:spPr>
      </p:sp>
      <p:sp>
        <p:nvSpPr>
          <p:cNvPr id="5" name="Shape 3"/>
          <p:cNvSpPr/>
          <p:nvPr/>
        </p:nvSpPr>
        <p:spPr>
          <a:xfrm>
            <a:off x="548640" y="2240280"/>
            <a:ext cx="54864" cy="1143000"/>
          </a:xfrm>
          <a:prstGeom prst="rect">
            <a:avLst/>
          </a:prstGeom>
          <a:solidFill>
            <a:schemeClr val="accent1"/>
          </a:solidFill>
          <a:ln w="12700">
            <a:solidFill>
              <a:schemeClr val="accent1"/>
            </a:solidFill>
            <a:prstDash val="solid"/>
          </a:ln>
        </p:spPr>
      </p:sp>
      <p:sp>
        <p:nvSpPr>
          <p:cNvPr id="6" name="Text 4"/>
          <p:cNvSpPr txBox="1"/>
          <p:nvPr/>
        </p:nvSpPr>
        <p:spPr>
          <a:xfrm>
            <a:off x="777240" y="2350008"/>
            <a:ext cx="4754880" cy="320040"/>
          </a:xfrm>
          <a:prstGeom prst="rect">
            <a:avLst/>
          </a:prstGeom>
          <a:noFill/>
          <a:ln/>
        </p:spPr>
        <p:txBody>
          <a:bodyPr wrap="square" lIns="0" tIns="0" rIns="0" bIns="0" rtlCol="0" anchor="t"/>
          <a:lstStyle/>
          <a:p>
            <a:pPr indent="0" marL="0">
              <a:buNone/>
            </a:pPr>
            <a:r>
              <a:rPr lang="en-US" sz="1500" b="1" dirty="0">
                <a:solidFill>
                  <a:schemeClr val="tx2"/>
                </a:solidFill>
              </a:rPr>
              <a:t>Pandas</a:t>
            </a:r>
            <a:endParaRPr lang="en-US" sz="1500" dirty="0"/>
          </a:p>
        </p:txBody>
      </p:sp>
      <p:sp>
        <p:nvSpPr>
          <p:cNvPr id="7" name="Text 5"/>
          <p:cNvSpPr txBox="1"/>
          <p:nvPr/>
        </p:nvSpPr>
        <p:spPr>
          <a:xfrm>
            <a:off x="777240" y="2715768"/>
            <a:ext cx="4754880" cy="594360"/>
          </a:xfrm>
          <a:prstGeom prst="rect">
            <a:avLst/>
          </a:prstGeom>
          <a:noFill/>
          <a:ln/>
        </p:spPr>
        <p:txBody>
          <a:bodyPr wrap="square" lIns="0" tIns="0" rIns="0" bIns="0" rtlCol="0" anchor="t"/>
          <a:lstStyle/>
          <a:p>
            <a:pPr marL="342900" indent="-342900">
              <a:buSzPct val="100000"/>
              <a:buChar char="•"/>
            </a:pPr>
            <a:r>
              <a:rPr lang="en-US" sz="1300" dirty="0">
                <a:solidFill>
                  <a:schemeClr val="tx1"/>
                </a:solidFill>
              </a:rPr>
              <a:t>Data loading, cleaning, filtering, grouping, and date processing</a:t>
            </a:r>
            <a:endParaRPr lang="en-US" sz="1300" dirty="0"/>
          </a:p>
        </p:txBody>
      </p:sp>
      <p:sp>
        <p:nvSpPr>
          <p:cNvPr id="8" name="card NumPy"/>
          <p:cNvSpPr/>
          <p:nvPr/>
        </p:nvSpPr>
        <p:spPr>
          <a:xfrm>
            <a:off x="548640" y="3520440"/>
            <a:ext cx="5120640" cy="1143000"/>
          </a:xfrm>
          <a:prstGeom prst="rect">
            <a:avLst/>
          </a:prstGeom>
          <a:solidFill>
            <a:schemeClr val="bg2"/>
          </a:solidFill>
          <a:ln w="12700">
            <a:solidFill>
              <a:schemeClr val="bg2"/>
            </a:solidFill>
            <a:prstDash val="solid"/>
          </a:ln>
        </p:spPr>
      </p:sp>
      <p:sp>
        <p:nvSpPr>
          <p:cNvPr id="9" name="Shape 7"/>
          <p:cNvSpPr/>
          <p:nvPr/>
        </p:nvSpPr>
        <p:spPr>
          <a:xfrm>
            <a:off x="548640" y="3520440"/>
            <a:ext cx="54864" cy="1143000"/>
          </a:xfrm>
          <a:prstGeom prst="rect">
            <a:avLst/>
          </a:prstGeom>
          <a:solidFill>
            <a:schemeClr val="accent1"/>
          </a:solidFill>
          <a:ln w="12700">
            <a:solidFill>
              <a:schemeClr val="accent1"/>
            </a:solidFill>
            <a:prstDash val="solid"/>
          </a:ln>
        </p:spPr>
      </p:sp>
      <p:sp>
        <p:nvSpPr>
          <p:cNvPr id="10" name="Text 8"/>
          <p:cNvSpPr txBox="1"/>
          <p:nvPr/>
        </p:nvSpPr>
        <p:spPr>
          <a:xfrm>
            <a:off x="777240" y="3630168"/>
            <a:ext cx="4754880" cy="320040"/>
          </a:xfrm>
          <a:prstGeom prst="rect">
            <a:avLst/>
          </a:prstGeom>
          <a:noFill/>
          <a:ln/>
        </p:spPr>
        <p:txBody>
          <a:bodyPr wrap="square" lIns="0" tIns="0" rIns="0" bIns="0" rtlCol="0" anchor="t"/>
          <a:lstStyle/>
          <a:p>
            <a:pPr indent="0" marL="0">
              <a:buNone/>
            </a:pPr>
            <a:r>
              <a:rPr lang="en-US" sz="1500" b="1" dirty="0">
                <a:solidFill>
                  <a:schemeClr val="tx2"/>
                </a:solidFill>
              </a:rPr>
              <a:t>NumPy</a:t>
            </a:r>
            <a:endParaRPr lang="en-US" sz="1500" dirty="0"/>
          </a:p>
        </p:txBody>
      </p:sp>
      <p:sp>
        <p:nvSpPr>
          <p:cNvPr id="11" name="Text 9"/>
          <p:cNvSpPr txBox="1"/>
          <p:nvPr/>
        </p:nvSpPr>
        <p:spPr>
          <a:xfrm>
            <a:off x="777240" y="3995928"/>
            <a:ext cx="4754880" cy="594360"/>
          </a:xfrm>
          <a:prstGeom prst="rect">
            <a:avLst/>
          </a:prstGeom>
          <a:noFill/>
          <a:ln/>
        </p:spPr>
        <p:txBody>
          <a:bodyPr wrap="square" lIns="0" tIns="0" rIns="0" bIns="0" rtlCol="0" anchor="t"/>
          <a:lstStyle/>
          <a:p>
            <a:pPr marL="342900" indent="-342900">
              <a:buSzPct val="100000"/>
              <a:buChar char="•"/>
            </a:pPr>
            <a:r>
              <a:rPr lang="en-US" sz="1300" dirty="0">
                <a:solidFill>
                  <a:schemeClr val="tx1"/>
                </a:solidFill>
              </a:rPr>
              <a:t>Statistical calculations</a:t>
            </a:r>
            <a:endParaRPr lang="en-US" sz="1300" dirty="0"/>
          </a:p>
        </p:txBody>
      </p:sp>
      <p:sp>
        <p:nvSpPr>
          <p:cNvPr id="12" name="card Matplotlib"/>
          <p:cNvSpPr/>
          <p:nvPr/>
        </p:nvSpPr>
        <p:spPr>
          <a:xfrm>
            <a:off x="548640" y="4800600"/>
            <a:ext cx="5120640" cy="1143000"/>
          </a:xfrm>
          <a:prstGeom prst="rect">
            <a:avLst/>
          </a:prstGeom>
          <a:solidFill>
            <a:schemeClr val="bg2"/>
          </a:solidFill>
          <a:ln w="12700">
            <a:solidFill>
              <a:schemeClr val="bg2"/>
            </a:solidFill>
            <a:prstDash val="solid"/>
          </a:ln>
        </p:spPr>
      </p:sp>
      <p:sp>
        <p:nvSpPr>
          <p:cNvPr id="13" name="Shape 11"/>
          <p:cNvSpPr/>
          <p:nvPr/>
        </p:nvSpPr>
        <p:spPr>
          <a:xfrm>
            <a:off x="548640" y="4800600"/>
            <a:ext cx="54864" cy="1143000"/>
          </a:xfrm>
          <a:prstGeom prst="rect">
            <a:avLst/>
          </a:prstGeom>
          <a:solidFill>
            <a:schemeClr val="accent1"/>
          </a:solidFill>
          <a:ln w="12700">
            <a:solidFill>
              <a:schemeClr val="accent1"/>
            </a:solidFill>
            <a:prstDash val="solid"/>
          </a:ln>
        </p:spPr>
      </p:sp>
      <p:sp>
        <p:nvSpPr>
          <p:cNvPr id="14" name="Text 12"/>
          <p:cNvSpPr txBox="1"/>
          <p:nvPr/>
        </p:nvSpPr>
        <p:spPr>
          <a:xfrm>
            <a:off x="777240" y="4910328"/>
            <a:ext cx="4754880" cy="320040"/>
          </a:xfrm>
          <a:prstGeom prst="rect">
            <a:avLst/>
          </a:prstGeom>
          <a:noFill/>
          <a:ln/>
        </p:spPr>
        <p:txBody>
          <a:bodyPr wrap="square" lIns="0" tIns="0" rIns="0" bIns="0" rtlCol="0" anchor="t"/>
          <a:lstStyle/>
          <a:p>
            <a:pPr indent="0" marL="0">
              <a:buNone/>
            </a:pPr>
            <a:r>
              <a:rPr lang="en-US" sz="1500" b="1" dirty="0">
                <a:solidFill>
                  <a:schemeClr val="tx2"/>
                </a:solidFill>
              </a:rPr>
              <a:t>Matplotlib</a:t>
            </a:r>
            <a:endParaRPr lang="en-US" sz="1500" dirty="0"/>
          </a:p>
        </p:txBody>
      </p:sp>
      <p:sp>
        <p:nvSpPr>
          <p:cNvPr id="15" name="Text 13"/>
          <p:cNvSpPr txBox="1"/>
          <p:nvPr/>
        </p:nvSpPr>
        <p:spPr>
          <a:xfrm>
            <a:off x="777240" y="5276088"/>
            <a:ext cx="4754880" cy="594360"/>
          </a:xfrm>
          <a:prstGeom prst="rect">
            <a:avLst/>
          </a:prstGeom>
          <a:noFill/>
          <a:ln/>
        </p:spPr>
        <p:txBody>
          <a:bodyPr wrap="square" lIns="0" tIns="0" rIns="0" bIns="0" rtlCol="0" anchor="t"/>
          <a:lstStyle/>
          <a:p>
            <a:pPr marL="342900" indent="-342900">
              <a:buSzPct val="100000"/>
              <a:buChar char="•"/>
            </a:pPr>
            <a:r>
              <a:rPr lang="en-US" sz="1300" dirty="0">
                <a:solidFill>
                  <a:schemeClr val="tx1"/>
                </a:solidFill>
              </a:rPr>
              <a:t>Data visualization</a:t>
            </a:r>
            <a:endParaRPr lang="en-US" sz="1300" dirty="0"/>
          </a:p>
        </p:txBody>
      </p:sp>
      <p:sp>
        <p:nvSpPr>
          <p:cNvPr id="16" name="Text 14"/>
          <p:cNvSpPr txBox="1"/>
          <p:nvPr/>
        </p:nvSpPr>
        <p:spPr>
          <a:xfrm>
            <a:off x="6126480" y="1280160"/>
            <a:ext cx="54864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ANALYSIS QUESTIONS</a:t>
            </a:r>
            <a:endParaRPr lang="en-US" sz="1200" dirty="0"/>
          </a:p>
        </p:txBody>
      </p:sp>
      <p:sp>
        <p:nvSpPr>
          <p:cNvPr id="17" name="Shape 15"/>
          <p:cNvSpPr/>
          <p:nvPr/>
        </p:nvSpPr>
        <p:spPr>
          <a:xfrm>
            <a:off x="6126480" y="1645920"/>
            <a:ext cx="5486400" cy="621792"/>
          </a:xfrm>
          <a:prstGeom prst="rect">
            <a:avLst/>
          </a:prstGeom>
          <a:solidFill>
            <a:schemeClr val="bg2"/>
          </a:solidFill>
          <a:ln w="12700">
            <a:solidFill>
              <a:schemeClr val="bg2"/>
            </a:solidFill>
            <a:prstDash val="solid"/>
          </a:ln>
        </p:spPr>
      </p:sp>
      <p:sp>
        <p:nvSpPr>
          <p:cNvPr id="18" name="Text 16"/>
          <p:cNvSpPr txBox="1"/>
          <p:nvPr/>
        </p:nvSpPr>
        <p:spPr>
          <a:xfrm>
            <a:off x="6263640" y="1645920"/>
            <a:ext cx="548640" cy="621792"/>
          </a:xfrm>
          <a:prstGeom prst="rect">
            <a:avLst/>
          </a:prstGeom>
          <a:noFill/>
          <a:ln/>
        </p:spPr>
        <p:txBody>
          <a:bodyPr wrap="square" lIns="0" tIns="0" rIns="0" bIns="0" rtlCol="0" anchor="ctr"/>
          <a:lstStyle/>
          <a:p>
            <a:pPr indent="0" marL="0">
              <a:buNone/>
            </a:pPr>
            <a:r>
              <a:rPr lang="en-US" sz="1600" b="1" dirty="0">
                <a:solidFill>
                  <a:schemeClr val="accent2"/>
                </a:solidFill>
              </a:rPr>
              <a:t>Q1</a:t>
            </a:r>
            <a:endParaRPr lang="en-US" sz="1600" dirty="0"/>
          </a:p>
        </p:txBody>
      </p:sp>
      <p:sp>
        <p:nvSpPr>
          <p:cNvPr id="19" name="Text 17"/>
          <p:cNvSpPr txBox="1"/>
          <p:nvPr/>
        </p:nvSpPr>
        <p:spPr>
          <a:xfrm>
            <a:off x="6858000" y="1645920"/>
            <a:ext cx="4663440" cy="621792"/>
          </a:xfrm>
          <a:prstGeom prst="rect">
            <a:avLst/>
          </a:prstGeom>
          <a:noFill/>
          <a:ln/>
        </p:spPr>
        <p:txBody>
          <a:bodyPr wrap="square" lIns="0" tIns="0" rIns="0" bIns="0" rtlCol="0" anchor="ctr"/>
          <a:lstStyle/>
          <a:p>
            <a:pPr indent="0" marL="0">
              <a:buNone/>
            </a:pPr>
            <a:r>
              <a:rPr lang="en-US" sz="1300" dirty="0">
                <a:solidFill>
                  <a:schemeClr val="tx1"/>
                </a:solidFill>
              </a:rPr>
              <a:t>How are tickets distributed across different priority levels?</a:t>
            </a:r>
            <a:endParaRPr lang="en-US" sz="1300" dirty="0"/>
          </a:p>
        </p:txBody>
      </p:sp>
      <p:sp>
        <p:nvSpPr>
          <p:cNvPr id="20" name="Shape 18"/>
          <p:cNvSpPr/>
          <p:nvPr/>
        </p:nvSpPr>
        <p:spPr>
          <a:xfrm>
            <a:off x="6126480" y="2377440"/>
            <a:ext cx="5486400" cy="621792"/>
          </a:xfrm>
          <a:prstGeom prst="rect">
            <a:avLst/>
          </a:prstGeom>
          <a:solidFill>
            <a:schemeClr val="bg2"/>
          </a:solidFill>
          <a:ln w="12700">
            <a:solidFill>
              <a:schemeClr val="bg2"/>
            </a:solidFill>
            <a:prstDash val="solid"/>
          </a:ln>
        </p:spPr>
      </p:sp>
      <p:sp>
        <p:nvSpPr>
          <p:cNvPr id="21" name="Text 19"/>
          <p:cNvSpPr txBox="1"/>
          <p:nvPr/>
        </p:nvSpPr>
        <p:spPr>
          <a:xfrm>
            <a:off x="6263640" y="2377440"/>
            <a:ext cx="548640" cy="621792"/>
          </a:xfrm>
          <a:prstGeom prst="rect">
            <a:avLst/>
          </a:prstGeom>
          <a:noFill/>
          <a:ln/>
        </p:spPr>
        <p:txBody>
          <a:bodyPr wrap="square" lIns="0" tIns="0" rIns="0" bIns="0" rtlCol="0" anchor="ctr"/>
          <a:lstStyle/>
          <a:p>
            <a:pPr indent="0" marL="0">
              <a:buNone/>
            </a:pPr>
            <a:r>
              <a:rPr lang="en-US" sz="1600" b="1" dirty="0">
                <a:solidFill>
                  <a:schemeClr val="accent2"/>
                </a:solidFill>
              </a:rPr>
              <a:t>Q2</a:t>
            </a:r>
            <a:endParaRPr lang="en-US" sz="1600" dirty="0"/>
          </a:p>
        </p:txBody>
      </p:sp>
      <p:sp>
        <p:nvSpPr>
          <p:cNvPr id="22" name="Text 20"/>
          <p:cNvSpPr txBox="1"/>
          <p:nvPr/>
        </p:nvSpPr>
        <p:spPr>
          <a:xfrm>
            <a:off x="6858000" y="2377440"/>
            <a:ext cx="4663440" cy="621792"/>
          </a:xfrm>
          <a:prstGeom prst="rect">
            <a:avLst/>
          </a:prstGeom>
          <a:noFill/>
          <a:ln/>
        </p:spPr>
        <p:txBody>
          <a:bodyPr wrap="square" lIns="0" tIns="0" rIns="0" bIns="0" rtlCol="0" anchor="ctr"/>
          <a:lstStyle/>
          <a:p>
            <a:pPr indent="0" marL="0">
              <a:buNone/>
            </a:pPr>
            <a:r>
              <a:rPr lang="en-US" sz="1300" dirty="0">
                <a:solidFill>
                  <a:schemeClr val="tx1"/>
                </a:solidFill>
              </a:rPr>
              <a:t>What are the most common issue types?</a:t>
            </a:r>
            <a:endParaRPr lang="en-US" sz="1300" dirty="0"/>
          </a:p>
        </p:txBody>
      </p:sp>
      <p:sp>
        <p:nvSpPr>
          <p:cNvPr id="23" name="Shape 21"/>
          <p:cNvSpPr/>
          <p:nvPr/>
        </p:nvSpPr>
        <p:spPr>
          <a:xfrm>
            <a:off x="6126480" y="3108960"/>
            <a:ext cx="5486400" cy="621792"/>
          </a:xfrm>
          <a:prstGeom prst="rect">
            <a:avLst/>
          </a:prstGeom>
          <a:solidFill>
            <a:schemeClr val="bg2"/>
          </a:solidFill>
          <a:ln w="12700">
            <a:solidFill>
              <a:schemeClr val="bg2"/>
            </a:solidFill>
            <a:prstDash val="solid"/>
          </a:ln>
        </p:spPr>
      </p:sp>
      <p:sp>
        <p:nvSpPr>
          <p:cNvPr id="24" name="Text 22"/>
          <p:cNvSpPr txBox="1"/>
          <p:nvPr/>
        </p:nvSpPr>
        <p:spPr>
          <a:xfrm>
            <a:off x="6263640" y="3108960"/>
            <a:ext cx="548640" cy="621792"/>
          </a:xfrm>
          <a:prstGeom prst="rect">
            <a:avLst/>
          </a:prstGeom>
          <a:noFill/>
          <a:ln/>
        </p:spPr>
        <p:txBody>
          <a:bodyPr wrap="square" lIns="0" tIns="0" rIns="0" bIns="0" rtlCol="0" anchor="ctr"/>
          <a:lstStyle/>
          <a:p>
            <a:pPr indent="0" marL="0">
              <a:buNone/>
            </a:pPr>
            <a:r>
              <a:rPr lang="en-US" sz="1600" b="1" dirty="0">
                <a:solidFill>
                  <a:schemeClr val="accent2"/>
                </a:solidFill>
              </a:rPr>
              <a:t>Q3</a:t>
            </a:r>
            <a:endParaRPr lang="en-US" sz="1600" dirty="0"/>
          </a:p>
        </p:txBody>
      </p:sp>
      <p:sp>
        <p:nvSpPr>
          <p:cNvPr id="25" name="Text 23"/>
          <p:cNvSpPr txBox="1"/>
          <p:nvPr/>
        </p:nvSpPr>
        <p:spPr>
          <a:xfrm>
            <a:off x="6858000" y="3108960"/>
            <a:ext cx="4663440" cy="621792"/>
          </a:xfrm>
          <a:prstGeom prst="rect">
            <a:avLst/>
          </a:prstGeom>
          <a:noFill/>
          <a:ln/>
        </p:spPr>
        <p:txBody>
          <a:bodyPr wrap="square" lIns="0" tIns="0" rIns="0" bIns="0" rtlCol="0" anchor="ctr"/>
          <a:lstStyle/>
          <a:p>
            <a:pPr indent="0" marL="0">
              <a:buNone/>
            </a:pPr>
            <a:r>
              <a:rPr lang="en-US" sz="1300" dirty="0">
                <a:solidFill>
                  <a:schemeClr val="tx1"/>
                </a:solidFill>
              </a:rPr>
              <a:t>How are tickets distributed across projects?</a:t>
            </a:r>
            <a:endParaRPr lang="en-US" sz="1300" dirty="0"/>
          </a:p>
        </p:txBody>
      </p:sp>
      <p:sp>
        <p:nvSpPr>
          <p:cNvPr id="26" name="Shape 24"/>
          <p:cNvSpPr/>
          <p:nvPr/>
        </p:nvSpPr>
        <p:spPr>
          <a:xfrm>
            <a:off x="6126480" y="3840480"/>
            <a:ext cx="5486400" cy="621792"/>
          </a:xfrm>
          <a:prstGeom prst="rect">
            <a:avLst/>
          </a:prstGeom>
          <a:solidFill>
            <a:schemeClr val="bg2"/>
          </a:solidFill>
          <a:ln w="12700">
            <a:solidFill>
              <a:schemeClr val="bg2"/>
            </a:solidFill>
            <a:prstDash val="solid"/>
          </a:ln>
        </p:spPr>
      </p:sp>
      <p:sp>
        <p:nvSpPr>
          <p:cNvPr id="27" name="Text 25"/>
          <p:cNvSpPr txBox="1"/>
          <p:nvPr/>
        </p:nvSpPr>
        <p:spPr>
          <a:xfrm>
            <a:off x="6263640" y="3840480"/>
            <a:ext cx="548640" cy="621792"/>
          </a:xfrm>
          <a:prstGeom prst="rect">
            <a:avLst/>
          </a:prstGeom>
          <a:noFill/>
          <a:ln/>
        </p:spPr>
        <p:txBody>
          <a:bodyPr wrap="square" lIns="0" tIns="0" rIns="0" bIns="0" rtlCol="0" anchor="ctr"/>
          <a:lstStyle/>
          <a:p>
            <a:pPr indent="0" marL="0">
              <a:buNone/>
            </a:pPr>
            <a:r>
              <a:rPr lang="en-US" sz="1600" b="1" dirty="0">
                <a:solidFill>
                  <a:schemeClr val="accent2"/>
                </a:solidFill>
              </a:rPr>
              <a:t>Q4</a:t>
            </a:r>
            <a:endParaRPr lang="en-US" sz="1600" dirty="0"/>
          </a:p>
        </p:txBody>
      </p:sp>
      <p:sp>
        <p:nvSpPr>
          <p:cNvPr id="28" name="Text 26"/>
          <p:cNvSpPr txBox="1"/>
          <p:nvPr/>
        </p:nvSpPr>
        <p:spPr>
          <a:xfrm>
            <a:off x="6858000" y="3840480"/>
            <a:ext cx="4663440" cy="621792"/>
          </a:xfrm>
          <a:prstGeom prst="rect">
            <a:avLst/>
          </a:prstGeom>
          <a:noFill/>
          <a:ln/>
        </p:spPr>
        <p:txBody>
          <a:bodyPr wrap="square" lIns="0" tIns="0" rIns="0" bIns="0" rtlCol="0" anchor="ctr"/>
          <a:lstStyle/>
          <a:p>
            <a:pPr indent="0" marL="0">
              <a:buNone/>
            </a:pPr>
            <a:r>
              <a:rPr lang="en-US" sz="1300" dirty="0">
                <a:solidFill>
                  <a:schemeClr val="tx1"/>
                </a:solidFill>
              </a:rPr>
              <a:t>What is the resolution time of the tickets?</a:t>
            </a:r>
            <a:endParaRPr lang="en-US" sz="1300" dirty="0"/>
          </a:p>
        </p:txBody>
      </p:sp>
      <p:sp>
        <p:nvSpPr>
          <p:cNvPr id="29" name="Shape 27"/>
          <p:cNvSpPr/>
          <p:nvPr/>
        </p:nvSpPr>
        <p:spPr>
          <a:xfrm>
            <a:off x="6126480" y="4572000"/>
            <a:ext cx="5486400" cy="621792"/>
          </a:xfrm>
          <a:prstGeom prst="rect">
            <a:avLst/>
          </a:prstGeom>
          <a:solidFill>
            <a:schemeClr val="bg2"/>
          </a:solidFill>
          <a:ln w="12700">
            <a:solidFill>
              <a:schemeClr val="bg2"/>
            </a:solidFill>
            <a:prstDash val="solid"/>
          </a:ln>
        </p:spPr>
      </p:sp>
      <p:sp>
        <p:nvSpPr>
          <p:cNvPr id="30" name="Text 28"/>
          <p:cNvSpPr txBox="1"/>
          <p:nvPr/>
        </p:nvSpPr>
        <p:spPr>
          <a:xfrm>
            <a:off x="6263640" y="4572000"/>
            <a:ext cx="548640" cy="621792"/>
          </a:xfrm>
          <a:prstGeom prst="rect">
            <a:avLst/>
          </a:prstGeom>
          <a:noFill/>
          <a:ln/>
        </p:spPr>
        <p:txBody>
          <a:bodyPr wrap="square" lIns="0" tIns="0" rIns="0" bIns="0" rtlCol="0" anchor="ctr"/>
          <a:lstStyle/>
          <a:p>
            <a:pPr indent="0" marL="0">
              <a:buNone/>
            </a:pPr>
            <a:r>
              <a:rPr lang="en-US" sz="1600" b="1" dirty="0">
                <a:solidFill>
                  <a:schemeClr val="accent2"/>
                </a:solidFill>
              </a:rPr>
              <a:t>Q5</a:t>
            </a:r>
            <a:endParaRPr lang="en-US" sz="1600" dirty="0"/>
          </a:p>
        </p:txBody>
      </p:sp>
      <p:sp>
        <p:nvSpPr>
          <p:cNvPr id="31" name="Text 29"/>
          <p:cNvSpPr txBox="1"/>
          <p:nvPr/>
        </p:nvSpPr>
        <p:spPr>
          <a:xfrm>
            <a:off x="6858000" y="4572000"/>
            <a:ext cx="4663440" cy="621792"/>
          </a:xfrm>
          <a:prstGeom prst="rect">
            <a:avLst/>
          </a:prstGeom>
          <a:noFill/>
          <a:ln/>
        </p:spPr>
        <p:txBody>
          <a:bodyPr wrap="square" lIns="0" tIns="0" rIns="0" bIns="0" rtlCol="0" anchor="ctr"/>
          <a:lstStyle/>
          <a:p>
            <a:pPr indent="0" marL="0">
              <a:buNone/>
            </a:pPr>
            <a:r>
              <a:rPr lang="en-US" sz="1300" dirty="0">
                <a:solidFill>
                  <a:schemeClr val="tx1"/>
                </a:solidFill>
              </a:rPr>
              <a:t>How does resolution time vary across ticket priorities?</a:t>
            </a:r>
            <a:endParaRPr lang="en-US" sz="1300" dirty="0"/>
          </a:p>
        </p:txBody>
      </p:sp>
      <p:sp>
        <p:nvSpPr>
          <p:cNvPr id="32" name="Shape 30"/>
          <p:cNvSpPr/>
          <p:nvPr/>
        </p:nvSpPr>
        <p:spPr>
          <a:xfrm>
            <a:off x="6126480" y="5303520"/>
            <a:ext cx="5486400" cy="621792"/>
          </a:xfrm>
          <a:prstGeom prst="rect">
            <a:avLst/>
          </a:prstGeom>
          <a:solidFill>
            <a:schemeClr val="bg2"/>
          </a:solidFill>
          <a:ln w="12700">
            <a:solidFill>
              <a:schemeClr val="bg2"/>
            </a:solidFill>
            <a:prstDash val="solid"/>
          </a:ln>
        </p:spPr>
      </p:sp>
      <p:sp>
        <p:nvSpPr>
          <p:cNvPr id="33" name="Text 31"/>
          <p:cNvSpPr txBox="1"/>
          <p:nvPr/>
        </p:nvSpPr>
        <p:spPr>
          <a:xfrm>
            <a:off x="6263640" y="5303520"/>
            <a:ext cx="548640" cy="621792"/>
          </a:xfrm>
          <a:prstGeom prst="rect">
            <a:avLst/>
          </a:prstGeom>
          <a:noFill/>
          <a:ln/>
        </p:spPr>
        <p:txBody>
          <a:bodyPr wrap="square" lIns="0" tIns="0" rIns="0" bIns="0" rtlCol="0" anchor="ctr"/>
          <a:lstStyle/>
          <a:p>
            <a:pPr indent="0" marL="0">
              <a:buNone/>
            </a:pPr>
            <a:r>
              <a:rPr lang="en-US" sz="1600" b="1" dirty="0">
                <a:solidFill>
                  <a:schemeClr val="accent2"/>
                </a:solidFill>
              </a:rPr>
              <a:t>Q6</a:t>
            </a:r>
            <a:endParaRPr lang="en-US" sz="1600" dirty="0"/>
          </a:p>
        </p:txBody>
      </p:sp>
      <p:sp>
        <p:nvSpPr>
          <p:cNvPr id="34" name="Text 32"/>
          <p:cNvSpPr txBox="1"/>
          <p:nvPr/>
        </p:nvSpPr>
        <p:spPr>
          <a:xfrm>
            <a:off x="6858000" y="5303520"/>
            <a:ext cx="4663440" cy="621792"/>
          </a:xfrm>
          <a:prstGeom prst="rect">
            <a:avLst/>
          </a:prstGeom>
          <a:noFill/>
          <a:ln/>
        </p:spPr>
        <p:txBody>
          <a:bodyPr wrap="square" lIns="0" tIns="0" rIns="0" bIns="0" rtlCol="0" anchor="ctr"/>
          <a:lstStyle/>
          <a:p>
            <a:pPr indent="0" marL="0">
              <a:buNone/>
            </a:pPr>
            <a:r>
              <a:rPr lang="en-US" sz="1300" dirty="0">
                <a:solidFill>
                  <a:schemeClr val="tx1"/>
                </a:solidFill>
              </a:rPr>
              <a:t>How does resolution time relate to comments and contributor count?</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Dataset Information</a:t>
            </a:r>
            <a:endParaRPr lang="en-US" sz="2800" dirty="0"/>
          </a:p>
        </p:txBody>
      </p:sp>
      <p:sp>
        <p:nvSpPr>
          <p:cNvPr id="3" name="Shape 1"/>
          <p:cNvSpPr/>
          <p:nvPr/>
        </p:nvSpPr>
        <p:spPr>
          <a:xfrm>
            <a:off x="548640" y="1280160"/>
            <a:ext cx="2606040" cy="1051560"/>
          </a:xfrm>
          <a:prstGeom prst="rect">
            <a:avLst/>
          </a:prstGeom>
          <a:solidFill>
            <a:schemeClr val="tx2"/>
          </a:solidFill>
          <a:ln w="12700">
            <a:solidFill>
              <a:schemeClr val="tx2"/>
            </a:solidFill>
            <a:prstDash val="solid"/>
          </a:ln>
        </p:spPr>
      </p:sp>
      <p:sp>
        <p:nvSpPr>
          <p:cNvPr id="4" name="Text 2"/>
          <p:cNvSpPr txBox="1"/>
          <p:nvPr/>
        </p:nvSpPr>
        <p:spPr>
          <a:xfrm>
            <a:off x="731520" y="1371600"/>
            <a:ext cx="2286000" cy="228600"/>
          </a:xfrm>
          <a:prstGeom prst="rect">
            <a:avLst/>
          </a:prstGeom>
          <a:noFill/>
          <a:ln/>
        </p:spPr>
        <p:txBody>
          <a:bodyPr wrap="square" lIns="0" tIns="0" rIns="0" bIns="0" rtlCol="0" anchor="t"/>
          <a:lstStyle/>
          <a:p>
            <a:pPr indent="0" marL="0">
              <a:buNone/>
            </a:pPr>
            <a:r>
              <a:rPr lang="en-US" sz="1000" b="1" spc="200" kern="0" dirty="0">
                <a:solidFill>
                  <a:srgbClr val="7DD3C8"/>
                </a:solidFill>
              </a:rPr>
              <a:t>DATASET</a:t>
            </a:r>
            <a:endParaRPr lang="en-US" sz="1000" dirty="0"/>
          </a:p>
        </p:txBody>
      </p:sp>
      <p:sp>
        <p:nvSpPr>
          <p:cNvPr id="5" name="Text 3"/>
          <p:cNvSpPr txBox="1"/>
          <p:nvPr/>
        </p:nvSpPr>
        <p:spPr>
          <a:xfrm>
            <a:off x="731520" y="1691640"/>
            <a:ext cx="2286000" cy="502920"/>
          </a:xfrm>
          <a:prstGeom prst="rect">
            <a:avLst/>
          </a:prstGeom>
          <a:noFill/>
          <a:ln/>
        </p:spPr>
        <p:txBody>
          <a:bodyPr wrap="square" lIns="0" tIns="0" rIns="0" bIns="0" rtlCol="0" anchor="t"/>
          <a:lstStyle/>
          <a:p>
            <a:pPr indent="0" marL="0">
              <a:buNone/>
            </a:pPr>
            <a:r>
              <a:rPr lang="en-US" sz="2200" b="1" dirty="0">
                <a:solidFill>
                  <a:schemeClr val="bg1"/>
                </a:solidFill>
              </a:rPr>
              <a:t>Help Desk Tickets</a:t>
            </a:r>
            <a:endParaRPr lang="en-US" sz="2200" dirty="0"/>
          </a:p>
        </p:txBody>
      </p:sp>
      <p:sp>
        <p:nvSpPr>
          <p:cNvPr id="6" name="Shape 4"/>
          <p:cNvSpPr/>
          <p:nvPr/>
        </p:nvSpPr>
        <p:spPr>
          <a:xfrm>
            <a:off x="3337560" y="1280160"/>
            <a:ext cx="2606040" cy="1051560"/>
          </a:xfrm>
          <a:prstGeom prst="rect">
            <a:avLst/>
          </a:prstGeom>
          <a:solidFill>
            <a:schemeClr val="tx2"/>
          </a:solidFill>
          <a:ln w="12700">
            <a:solidFill>
              <a:schemeClr val="tx2"/>
            </a:solidFill>
            <a:prstDash val="solid"/>
          </a:ln>
        </p:spPr>
      </p:sp>
      <p:sp>
        <p:nvSpPr>
          <p:cNvPr id="7" name="Text 5"/>
          <p:cNvSpPr txBox="1"/>
          <p:nvPr/>
        </p:nvSpPr>
        <p:spPr>
          <a:xfrm>
            <a:off x="3520440" y="1371600"/>
            <a:ext cx="2286000" cy="228600"/>
          </a:xfrm>
          <a:prstGeom prst="rect">
            <a:avLst/>
          </a:prstGeom>
          <a:noFill/>
          <a:ln/>
        </p:spPr>
        <p:txBody>
          <a:bodyPr wrap="square" lIns="0" tIns="0" rIns="0" bIns="0" rtlCol="0" anchor="t"/>
          <a:lstStyle/>
          <a:p>
            <a:pPr indent="0" marL="0">
              <a:buNone/>
            </a:pPr>
            <a:r>
              <a:rPr lang="en-US" sz="1000" b="1" spc="200" kern="0" dirty="0">
                <a:solidFill>
                  <a:srgbClr val="7DD3C8"/>
                </a:solidFill>
              </a:rPr>
              <a:t>MAIN FILE</a:t>
            </a:r>
            <a:endParaRPr lang="en-US" sz="1000" dirty="0"/>
          </a:p>
        </p:txBody>
      </p:sp>
      <p:sp>
        <p:nvSpPr>
          <p:cNvPr id="8" name="Text 6"/>
          <p:cNvSpPr txBox="1"/>
          <p:nvPr/>
        </p:nvSpPr>
        <p:spPr>
          <a:xfrm>
            <a:off x="3520440" y="1691640"/>
            <a:ext cx="2286000" cy="502920"/>
          </a:xfrm>
          <a:prstGeom prst="rect">
            <a:avLst/>
          </a:prstGeom>
          <a:noFill/>
          <a:ln/>
        </p:spPr>
        <p:txBody>
          <a:bodyPr wrap="square" lIns="0" tIns="0" rIns="0" bIns="0" rtlCol="0" anchor="t"/>
          <a:lstStyle/>
          <a:p>
            <a:pPr indent="0" marL="0">
              <a:buNone/>
            </a:pPr>
            <a:r>
              <a:rPr lang="en-US" sz="2200" b="1" dirty="0">
                <a:solidFill>
                  <a:schemeClr val="bg1"/>
                </a:solidFill>
              </a:rPr>
              <a:t>issues.csv</a:t>
            </a:r>
            <a:endParaRPr lang="en-US" sz="2200" dirty="0"/>
          </a:p>
        </p:txBody>
      </p:sp>
      <p:sp>
        <p:nvSpPr>
          <p:cNvPr id="9" name="Shape 7"/>
          <p:cNvSpPr/>
          <p:nvPr/>
        </p:nvSpPr>
        <p:spPr>
          <a:xfrm>
            <a:off x="6126480" y="1280160"/>
            <a:ext cx="2606040" cy="1051560"/>
          </a:xfrm>
          <a:prstGeom prst="rect">
            <a:avLst/>
          </a:prstGeom>
          <a:solidFill>
            <a:schemeClr val="tx2"/>
          </a:solidFill>
          <a:ln w="12700">
            <a:solidFill>
              <a:schemeClr val="tx2"/>
            </a:solidFill>
            <a:prstDash val="solid"/>
          </a:ln>
        </p:spPr>
      </p:sp>
      <p:sp>
        <p:nvSpPr>
          <p:cNvPr id="10" name="Text 8"/>
          <p:cNvSpPr txBox="1"/>
          <p:nvPr/>
        </p:nvSpPr>
        <p:spPr>
          <a:xfrm>
            <a:off x="6309360" y="1371600"/>
            <a:ext cx="2286000" cy="228600"/>
          </a:xfrm>
          <a:prstGeom prst="rect">
            <a:avLst/>
          </a:prstGeom>
          <a:noFill/>
          <a:ln/>
        </p:spPr>
        <p:txBody>
          <a:bodyPr wrap="square" lIns="0" tIns="0" rIns="0" bIns="0" rtlCol="0" anchor="t"/>
          <a:lstStyle/>
          <a:p>
            <a:pPr indent="0" marL="0">
              <a:buNone/>
            </a:pPr>
            <a:r>
              <a:rPr lang="en-US" sz="1000" b="1" spc="200" kern="0" dirty="0">
                <a:solidFill>
                  <a:srgbClr val="7DD3C8"/>
                </a:solidFill>
              </a:rPr>
              <a:t>ROWS</a:t>
            </a:r>
            <a:endParaRPr lang="en-US" sz="1000" dirty="0"/>
          </a:p>
        </p:txBody>
      </p:sp>
      <p:sp>
        <p:nvSpPr>
          <p:cNvPr id="11" name="Text 9"/>
          <p:cNvSpPr txBox="1"/>
          <p:nvPr/>
        </p:nvSpPr>
        <p:spPr>
          <a:xfrm>
            <a:off x="6309360" y="1691640"/>
            <a:ext cx="2286000" cy="502920"/>
          </a:xfrm>
          <a:prstGeom prst="rect">
            <a:avLst/>
          </a:prstGeom>
          <a:noFill/>
          <a:ln/>
        </p:spPr>
        <p:txBody>
          <a:bodyPr wrap="square" lIns="0" tIns="0" rIns="0" bIns="0" rtlCol="0" anchor="t"/>
          <a:lstStyle/>
          <a:p>
            <a:pPr indent="0" marL="0">
              <a:buNone/>
            </a:pPr>
            <a:r>
              <a:rPr lang="en-US" sz="2200" b="1" dirty="0">
                <a:solidFill>
                  <a:schemeClr val="bg1"/>
                </a:solidFill>
              </a:rPr>
              <a:t>66,691</a:t>
            </a:r>
            <a:endParaRPr lang="en-US" sz="2200" dirty="0"/>
          </a:p>
        </p:txBody>
      </p:sp>
      <p:sp>
        <p:nvSpPr>
          <p:cNvPr id="12" name="Shape 10"/>
          <p:cNvSpPr/>
          <p:nvPr/>
        </p:nvSpPr>
        <p:spPr>
          <a:xfrm>
            <a:off x="8915400" y="1280160"/>
            <a:ext cx="2606040" cy="1051560"/>
          </a:xfrm>
          <a:prstGeom prst="rect">
            <a:avLst/>
          </a:prstGeom>
          <a:solidFill>
            <a:schemeClr val="tx2"/>
          </a:solidFill>
          <a:ln w="12700">
            <a:solidFill>
              <a:schemeClr val="tx2"/>
            </a:solidFill>
            <a:prstDash val="solid"/>
          </a:ln>
        </p:spPr>
      </p:sp>
      <p:sp>
        <p:nvSpPr>
          <p:cNvPr id="13" name="Text 11"/>
          <p:cNvSpPr txBox="1"/>
          <p:nvPr/>
        </p:nvSpPr>
        <p:spPr>
          <a:xfrm>
            <a:off x="9098280" y="1371600"/>
            <a:ext cx="2286000" cy="228600"/>
          </a:xfrm>
          <a:prstGeom prst="rect">
            <a:avLst/>
          </a:prstGeom>
          <a:noFill/>
          <a:ln/>
        </p:spPr>
        <p:txBody>
          <a:bodyPr wrap="square" lIns="0" tIns="0" rIns="0" bIns="0" rtlCol="0" anchor="t"/>
          <a:lstStyle/>
          <a:p>
            <a:pPr indent="0" marL="0">
              <a:buNone/>
            </a:pPr>
            <a:r>
              <a:rPr lang="en-US" sz="1000" b="1" spc="200" kern="0" dirty="0">
                <a:solidFill>
                  <a:srgbClr val="7DD3C8"/>
                </a:solidFill>
              </a:rPr>
              <a:t>ORIGINAL COLUMNS</a:t>
            </a:r>
            <a:endParaRPr lang="en-US" sz="1000" dirty="0"/>
          </a:p>
        </p:txBody>
      </p:sp>
      <p:sp>
        <p:nvSpPr>
          <p:cNvPr id="14" name="Text 12"/>
          <p:cNvSpPr txBox="1"/>
          <p:nvPr/>
        </p:nvSpPr>
        <p:spPr>
          <a:xfrm>
            <a:off x="9098280" y="1691640"/>
            <a:ext cx="2286000" cy="502920"/>
          </a:xfrm>
          <a:prstGeom prst="rect">
            <a:avLst/>
          </a:prstGeom>
          <a:noFill/>
          <a:ln/>
        </p:spPr>
        <p:txBody>
          <a:bodyPr wrap="square" lIns="0" tIns="0" rIns="0" bIns="0" rtlCol="0" anchor="t"/>
          <a:lstStyle/>
          <a:p>
            <a:pPr indent="0" marL="0">
              <a:buNone/>
            </a:pPr>
            <a:r>
              <a:rPr lang="en-US" sz="2200" b="1" dirty="0">
                <a:solidFill>
                  <a:schemeClr val="bg1"/>
                </a:solidFill>
              </a:rPr>
              <a:t>58</a:t>
            </a:r>
            <a:endParaRPr lang="en-US" sz="2200" dirty="0"/>
          </a:p>
        </p:txBody>
      </p:sp>
      <p:sp>
        <p:nvSpPr>
          <p:cNvPr id="15" name="Text 13"/>
          <p:cNvSpPr txBox="1"/>
          <p:nvPr/>
        </p:nvSpPr>
        <p:spPr>
          <a:xfrm>
            <a:off x="548640" y="2606040"/>
            <a:ext cx="7315200" cy="274320"/>
          </a:xfrm>
          <a:prstGeom prst="rect">
            <a:avLst/>
          </a:prstGeom>
          <a:noFill/>
          <a:ln/>
        </p:spPr>
        <p:txBody>
          <a:bodyPr wrap="square" lIns="0" tIns="0" rIns="0" bIns="0" rtlCol="0" anchor="t"/>
          <a:lstStyle/>
          <a:p>
            <a:pPr indent="0" marL="0">
              <a:buNone/>
            </a:pPr>
            <a:r>
              <a:rPr lang="en-US" sz="1400" b="1" dirty="0">
                <a:solidFill>
                  <a:schemeClr val="tx2"/>
                </a:solidFill>
              </a:rPr>
              <a:t>Important features used in Sprint 1  (file format: CSV)</a:t>
            </a:r>
            <a:endParaRPr lang="en-US" sz="1400" dirty="0"/>
          </a:p>
        </p:txBody>
      </p:sp>
      <p:sp>
        <p:nvSpPr>
          <p:cNvPr id="16" name="Shape 14"/>
          <p:cNvSpPr/>
          <p:nvPr/>
        </p:nvSpPr>
        <p:spPr>
          <a:xfrm>
            <a:off x="548640" y="2971800"/>
            <a:ext cx="2834640" cy="420624"/>
          </a:xfrm>
          <a:prstGeom prst="roundRect">
            <a:avLst>
              <a:gd name="adj" fmla="val 17391"/>
            </a:avLst>
          </a:prstGeom>
          <a:solidFill>
            <a:schemeClr val="bg2"/>
          </a:solidFill>
          <a:ln w="9525">
            <a:solidFill>
              <a:schemeClr val="accent1"/>
            </a:solidFill>
            <a:prstDash val="solid"/>
          </a:ln>
        </p:spPr>
      </p:sp>
      <p:sp>
        <p:nvSpPr>
          <p:cNvPr id="17" name="Text 15"/>
          <p:cNvSpPr txBox="1"/>
          <p:nvPr/>
        </p:nvSpPr>
        <p:spPr>
          <a:xfrm>
            <a:off x="548640" y="2971800"/>
            <a:ext cx="2834640" cy="420624"/>
          </a:xfrm>
          <a:prstGeom prst="rect">
            <a:avLst/>
          </a:prstGeom>
          <a:noFill/>
          <a:ln/>
        </p:spPr>
        <p:txBody>
          <a:bodyPr wrap="square" lIns="0" tIns="0" rIns="0" bIns="0" rtlCol="0" anchor="ctr"/>
          <a:lstStyle/>
          <a:p>
            <a:pPr algn="ctr" indent="0" marL="0">
              <a:buNone/>
            </a:pPr>
            <a:r>
              <a:rPr lang="en-US" sz="1250" b="1" dirty="0">
                <a:solidFill>
                  <a:schemeClr val="accent1"/>
                </a:solidFill>
              </a:rPr>
              <a:t>id</a:t>
            </a:r>
            <a:endParaRPr lang="en-US" sz="1250" dirty="0"/>
          </a:p>
        </p:txBody>
      </p:sp>
      <p:sp>
        <p:nvSpPr>
          <p:cNvPr id="18" name="Shape 16"/>
          <p:cNvSpPr/>
          <p:nvPr/>
        </p:nvSpPr>
        <p:spPr>
          <a:xfrm>
            <a:off x="3566160" y="2971800"/>
            <a:ext cx="2834640" cy="420624"/>
          </a:xfrm>
          <a:prstGeom prst="roundRect">
            <a:avLst>
              <a:gd name="adj" fmla="val 17391"/>
            </a:avLst>
          </a:prstGeom>
          <a:solidFill>
            <a:schemeClr val="bg2"/>
          </a:solidFill>
          <a:ln w="9525">
            <a:solidFill>
              <a:schemeClr val="accent1"/>
            </a:solidFill>
            <a:prstDash val="solid"/>
          </a:ln>
        </p:spPr>
      </p:sp>
      <p:sp>
        <p:nvSpPr>
          <p:cNvPr id="19" name="Text 17"/>
          <p:cNvSpPr txBox="1"/>
          <p:nvPr/>
        </p:nvSpPr>
        <p:spPr>
          <a:xfrm>
            <a:off x="3566160" y="2971800"/>
            <a:ext cx="2834640" cy="420624"/>
          </a:xfrm>
          <a:prstGeom prst="rect">
            <a:avLst/>
          </a:prstGeom>
          <a:noFill/>
          <a:ln/>
        </p:spPr>
        <p:txBody>
          <a:bodyPr wrap="square" lIns="0" tIns="0" rIns="0" bIns="0" rtlCol="0" anchor="ctr"/>
          <a:lstStyle/>
          <a:p>
            <a:pPr algn="ctr" indent="0" marL="0">
              <a:buNone/>
            </a:pPr>
            <a:r>
              <a:rPr lang="en-US" sz="1250" b="1" dirty="0">
                <a:solidFill>
                  <a:schemeClr val="accent1"/>
                </a:solidFill>
              </a:rPr>
              <a:t>issue_proj</a:t>
            </a:r>
            <a:endParaRPr lang="en-US" sz="1250" dirty="0"/>
          </a:p>
        </p:txBody>
      </p:sp>
      <p:sp>
        <p:nvSpPr>
          <p:cNvPr id="20" name="Shape 18"/>
          <p:cNvSpPr/>
          <p:nvPr/>
        </p:nvSpPr>
        <p:spPr>
          <a:xfrm>
            <a:off x="548640" y="3502152"/>
            <a:ext cx="2834640" cy="420624"/>
          </a:xfrm>
          <a:prstGeom prst="roundRect">
            <a:avLst>
              <a:gd name="adj" fmla="val 17391"/>
            </a:avLst>
          </a:prstGeom>
          <a:solidFill>
            <a:schemeClr val="bg2"/>
          </a:solidFill>
          <a:ln w="9525">
            <a:solidFill>
              <a:schemeClr val="accent1"/>
            </a:solidFill>
            <a:prstDash val="solid"/>
          </a:ln>
        </p:spPr>
      </p:sp>
      <p:sp>
        <p:nvSpPr>
          <p:cNvPr id="21" name="Text 19"/>
          <p:cNvSpPr txBox="1"/>
          <p:nvPr/>
        </p:nvSpPr>
        <p:spPr>
          <a:xfrm>
            <a:off x="548640" y="3502152"/>
            <a:ext cx="2834640" cy="420624"/>
          </a:xfrm>
          <a:prstGeom prst="rect">
            <a:avLst/>
          </a:prstGeom>
          <a:noFill/>
          <a:ln/>
        </p:spPr>
        <p:txBody>
          <a:bodyPr wrap="square" lIns="0" tIns="0" rIns="0" bIns="0" rtlCol="0" anchor="ctr"/>
          <a:lstStyle/>
          <a:p>
            <a:pPr algn="ctr" indent="0" marL="0">
              <a:buNone/>
            </a:pPr>
            <a:r>
              <a:rPr lang="en-US" sz="1250" b="1" dirty="0">
                <a:solidFill>
                  <a:schemeClr val="accent1"/>
                </a:solidFill>
              </a:rPr>
              <a:t>issue_contr_count</a:t>
            </a:r>
            <a:endParaRPr lang="en-US" sz="1250" dirty="0"/>
          </a:p>
        </p:txBody>
      </p:sp>
      <p:sp>
        <p:nvSpPr>
          <p:cNvPr id="22" name="Shape 20"/>
          <p:cNvSpPr/>
          <p:nvPr/>
        </p:nvSpPr>
        <p:spPr>
          <a:xfrm>
            <a:off x="3566160" y="3502152"/>
            <a:ext cx="2834640" cy="420624"/>
          </a:xfrm>
          <a:prstGeom prst="roundRect">
            <a:avLst>
              <a:gd name="adj" fmla="val 17391"/>
            </a:avLst>
          </a:prstGeom>
          <a:solidFill>
            <a:schemeClr val="bg2"/>
          </a:solidFill>
          <a:ln w="9525">
            <a:solidFill>
              <a:schemeClr val="accent1"/>
            </a:solidFill>
            <a:prstDash val="solid"/>
          </a:ln>
        </p:spPr>
      </p:sp>
      <p:sp>
        <p:nvSpPr>
          <p:cNvPr id="23" name="Text 21"/>
          <p:cNvSpPr txBox="1"/>
          <p:nvPr/>
        </p:nvSpPr>
        <p:spPr>
          <a:xfrm>
            <a:off x="3566160" y="3502152"/>
            <a:ext cx="2834640" cy="420624"/>
          </a:xfrm>
          <a:prstGeom prst="rect">
            <a:avLst/>
          </a:prstGeom>
          <a:noFill/>
          <a:ln/>
        </p:spPr>
        <p:txBody>
          <a:bodyPr wrap="square" lIns="0" tIns="0" rIns="0" bIns="0" rtlCol="0" anchor="ctr"/>
          <a:lstStyle/>
          <a:p>
            <a:pPr algn="ctr" indent="0" marL="0">
              <a:buNone/>
            </a:pPr>
            <a:r>
              <a:rPr lang="en-US" sz="1250" b="1" dirty="0">
                <a:solidFill>
                  <a:schemeClr val="accent1"/>
                </a:solidFill>
              </a:rPr>
              <a:t>issue_type</a:t>
            </a:r>
            <a:endParaRPr lang="en-US" sz="1250" dirty="0"/>
          </a:p>
        </p:txBody>
      </p:sp>
      <p:sp>
        <p:nvSpPr>
          <p:cNvPr id="24" name="Shape 22"/>
          <p:cNvSpPr/>
          <p:nvPr/>
        </p:nvSpPr>
        <p:spPr>
          <a:xfrm>
            <a:off x="548640" y="4032504"/>
            <a:ext cx="2834640" cy="420624"/>
          </a:xfrm>
          <a:prstGeom prst="roundRect">
            <a:avLst>
              <a:gd name="adj" fmla="val 17391"/>
            </a:avLst>
          </a:prstGeom>
          <a:solidFill>
            <a:schemeClr val="bg2"/>
          </a:solidFill>
          <a:ln w="9525">
            <a:solidFill>
              <a:schemeClr val="accent1"/>
            </a:solidFill>
            <a:prstDash val="solid"/>
          </a:ln>
        </p:spPr>
      </p:sp>
      <p:sp>
        <p:nvSpPr>
          <p:cNvPr id="25" name="Text 23"/>
          <p:cNvSpPr txBox="1"/>
          <p:nvPr/>
        </p:nvSpPr>
        <p:spPr>
          <a:xfrm>
            <a:off x="548640" y="4032504"/>
            <a:ext cx="2834640" cy="420624"/>
          </a:xfrm>
          <a:prstGeom prst="rect">
            <a:avLst/>
          </a:prstGeom>
          <a:noFill/>
          <a:ln/>
        </p:spPr>
        <p:txBody>
          <a:bodyPr wrap="square" lIns="0" tIns="0" rIns="0" bIns="0" rtlCol="0" anchor="ctr"/>
          <a:lstStyle/>
          <a:p>
            <a:pPr algn="ctr" indent="0" marL="0">
              <a:buNone/>
            </a:pPr>
            <a:r>
              <a:rPr lang="en-US" sz="1250" b="1" dirty="0">
                <a:solidFill>
                  <a:schemeClr val="accent1"/>
                </a:solidFill>
              </a:rPr>
              <a:t>issue_priority</a:t>
            </a:r>
            <a:endParaRPr lang="en-US" sz="1250" dirty="0"/>
          </a:p>
        </p:txBody>
      </p:sp>
      <p:sp>
        <p:nvSpPr>
          <p:cNvPr id="26" name="Shape 24"/>
          <p:cNvSpPr/>
          <p:nvPr/>
        </p:nvSpPr>
        <p:spPr>
          <a:xfrm>
            <a:off x="3566160" y="4032504"/>
            <a:ext cx="2834640" cy="420624"/>
          </a:xfrm>
          <a:prstGeom prst="roundRect">
            <a:avLst>
              <a:gd name="adj" fmla="val 17391"/>
            </a:avLst>
          </a:prstGeom>
          <a:solidFill>
            <a:schemeClr val="bg2"/>
          </a:solidFill>
          <a:ln w="9525">
            <a:solidFill>
              <a:schemeClr val="accent1"/>
            </a:solidFill>
            <a:prstDash val="solid"/>
          </a:ln>
        </p:spPr>
      </p:sp>
      <p:sp>
        <p:nvSpPr>
          <p:cNvPr id="27" name="Text 25"/>
          <p:cNvSpPr txBox="1"/>
          <p:nvPr/>
        </p:nvSpPr>
        <p:spPr>
          <a:xfrm>
            <a:off x="3566160" y="4032504"/>
            <a:ext cx="2834640" cy="420624"/>
          </a:xfrm>
          <a:prstGeom prst="rect">
            <a:avLst/>
          </a:prstGeom>
          <a:noFill/>
          <a:ln/>
        </p:spPr>
        <p:txBody>
          <a:bodyPr wrap="square" lIns="0" tIns="0" rIns="0" bIns="0" rtlCol="0" anchor="ctr"/>
          <a:lstStyle/>
          <a:p>
            <a:pPr algn="ctr" indent="0" marL="0">
              <a:buNone/>
            </a:pPr>
            <a:r>
              <a:rPr lang="en-US" sz="1250" b="1" dirty="0">
                <a:solidFill>
                  <a:schemeClr val="accent1"/>
                </a:solidFill>
              </a:rPr>
              <a:t>issue_created</a:t>
            </a:r>
            <a:endParaRPr lang="en-US" sz="1250" dirty="0"/>
          </a:p>
        </p:txBody>
      </p:sp>
      <p:sp>
        <p:nvSpPr>
          <p:cNvPr id="28" name="Shape 26"/>
          <p:cNvSpPr/>
          <p:nvPr/>
        </p:nvSpPr>
        <p:spPr>
          <a:xfrm>
            <a:off x="548640" y="4562856"/>
            <a:ext cx="2834640" cy="420624"/>
          </a:xfrm>
          <a:prstGeom prst="roundRect">
            <a:avLst>
              <a:gd name="adj" fmla="val 17391"/>
            </a:avLst>
          </a:prstGeom>
          <a:solidFill>
            <a:schemeClr val="bg2"/>
          </a:solidFill>
          <a:ln w="9525">
            <a:solidFill>
              <a:schemeClr val="accent1"/>
            </a:solidFill>
            <a:prstDash val="solid"/>
          </a:ln>
        </p:spPr>
      </p:sp>
      <p:sp>
        <p:nvSpPr>
          <p:cNvPr id="29" name="Text 27"/>
          <p:cNvSpPr txBox="1"/>
          <p:nvPr/>
        </p:nvSpPr>
        <p:spPr>
          <a:xfrm>
            <a:off x="548640" y="4562856"/>
            <a:ext cx="2834640" cy="420624"/>
          </a:xfrm>
          <a:prstGeom prst="rect">
            <a:avLst/>
          </a:prstGeom>
          <a:noFill/>
          <a:ln/>
        </p:spPr>
        <p:txBody>
          <a:bodyPr wrap="square" lIns="0" tIns="0" rIns="0" bIns="0" rtlCol="0" anchor="ctr"/>
          <a:lstStyle/>
          <a:p>
            <a:pPr algn="ctr" indent="0" marL="0">
              <a:buNone/>
            </a:pPr>
            <a:r>
              <a:rPr lang="en-US" sz="1250" b="1" dirty="0">
                <a:solidFill>
                  <a:schemeClr val="accent1"/>
                </a:solidFill>
              </a:rPr>
              <a:t>issue_resolution_date</a:t>
            </a:r>
            <a:endParaRPr lang="en-US" sz="1250" dirty="0"/>
          </a:p>
        </p:txBody>
      </p:sp>
      <p:sp>
        <p:nvSpPr>
          <p:cNvPr id="30" name="Shape 28"/>
          <p:cNvSpPr/>
          <p:nvPr/>
        </p:nvSpPr>
        <p:spPr>
          <a:xfrm>
            <a:off x="3566160" y="4562856"/>
            <a:ext cx="2834640" cy="420624"/>
          </a:xfrm>
          <a:prstGeom prst="roundRect">
            <a:avLst>
              <a:gd name="adj" fmla="val 17391"/>
            </a:avLst>
          </a:prstGeom>
          <a:solidFill>
            <a:schemeClr val="bg2"/>
          </a:solidFill>
          <a:ln w="9525">
            <a:solidFill>
              <a:schemeClr val="accent1"/>
            </a:solidFill>
            <a:prstDash val="solid"/>
          </a:ln>
        </p:spPr>
      </p:sp>
      <p:sp>
        <p:nvSpPr>
          <p:cNvPr id="31" name="Text 29"/>
          <p:cNvSpPr txBox="1"/>
          <p:nvPr/>
        </p:nvSpPr>
        <p:spPr>
          <a:xfrm>
            <a:off x="3566160" y="4562856"/>
            <a:ext cx="2834640" cy="420624"/>
          </a:xfrm>
          <a:prstGeom prst="rect">
            <a:avLst/>
          </a:prstGeom>
          <a:noFill/>
          <a:ln/>
        </p:spPr>
        <p:txBody>
          <a:bodyPr wrap="square" lIns="0" tIns="0" rIns="0" bIns="0" rtlCol="0" anchor="ctr"/>
          <a:lstStyle/>
          <a:p>
            <a:pPr algn="ctr" indent="0" marL="0">
              <a:buNone/>
            </a:pPr>
            <a:r>
              <a:rPr lang="en-US" sz="1250" b="1" dirty="0">
                <a:solidFill>
                  <a:schemeClr val="accent1"/>
                </a:solidFill>
              </a:rPr>
              <a:t>issue_resolution</a:t>
            </a:r>
            <a:endParaRPr lang="en-US" sz="1250" dirty="0"/>
          </a:p>
        </p:txBody>
      </p:sp>
      <p:sp>
        <p:nvSpPr>
          <p:cNvPr id="32" name="Shape 30"/>
          <p:cNvSpPr/>
          <p:nvPr/>
        </p:nvSpPr>
        <p:spPr>
          <a:xfrm>
            <a:off x="548640" y="5093208"/>
            <a:ext cx="2834640" cy="420624"/>
          </a:xfrm>
          <a:prstGeom prst="roundRect">
            <a:avLst>
              <a:gd name="adj" fmla="val 17391"/>
            </a:avLst>
          </a:prstGeom>
          <a:solidFill>
            <a:schemeClr val="bg2"/>
          </a:solidFill>
          <a:ln w="9525">
            <a:solidFill>
              <a:schemeClr val="accent1"/>
            </a:solidFill>
            <a:prstDash val="solid"/>
          </a:ln>
        </p:spPr>
      </p:sp>
      <p:sp>
        <p:nvSpPr>
          <p:cNvPr id="33" name="Text 31"/>
          <p:cNvSpPr txBox="1"/>
          <p:nvPr/>
        </p:nvSpPr>
        <p:spPr>
          <a:xfrm>
            <a:off x="548640" y="5093208"/>
            <a:ext cx="2834640" cy="420624"/>
          </a:xfrm>
          <a:prstGeom prst="rect">
            <a:avLst/>
          </a:prstGeom>
          <a:noFill/>
          <a:ln/>
        </p:spPr>
        <p:txBody>
          <a:bodyPr wrap="square" lIns="0" tIns="0" rIns="0" bIns="0" rtlCol="0" anchor="ctr"/>
          <a:lstStyle/>
          <a:p>
            <a:pPr algn="ctr" indent="0" marL="0">
              <a:buNone/>
            </a:pPr>
            <a:r>
              <a:rPr lang="en-US" sz="1250" b="1" dirty="0">
                <a:solidFill>
                  <a:schemeClr val="accent1"/>
                </a:solidFill>
              </a:rPr>
              <a:t>issue_status</a:t>
            </a:r>
            <a:endParaRPr lang="en-US" sz="1250" dirty="0"/>
          </a:p>
        </p:txBody>
      </p:sp>
      <p:sp>
        <p:nvSpPr>
          <p:cNvPr id="34" name="Shape 32"/>
          <p:cNvSpPr/>
          <p:nvPr/>
        </p:nvSpPr>
        <p:spPr>
          <a:xfrm>
            <a:off x="3566160" y="5093208"/>
            <a:ext cx="2834640" cy="420624"/>
          </a:xfrm>
          <a:prstGeom prst="roundRect">
            <a:avLst>
              <a:gd name="adj" fmla="val 17391"/>
            </a:avLst>
          </a:prstGeom>
          <a:solidFill>
            <a:schemeClr val="bg2"/>
          </a:solidFill>
          <a:ln w="9525">
            <a:solidFill>
              <a:schemeClr val="accent1"/>
            </a:solidFill>
            <a:prstDash val="solid"/>
          </a:ln>
        </p:spPr>
      </p:sp>
      <p:sp>
        <p:nvSpPr>
          <p:cNvPr id="35" name="Text 33"/>
          <p:cNvSpPr txBox="1"/>
          <p:nvPr/>
        </p:nvSpPr>
        <p:spPr>
          <a:xfrm>
            <a:off x="3566160" y="5093208"/>
            <a:ext cx="2834640" cy="420624"/>
          </a:xfrm>
          <a:prstGeom prst="rect">
            <a:avLst/>
          </a:prstGeom>
          <a:noFill/>
          <a:ln/>
        </p:spPr>
        <p:txBody>
          <a:bodyPr wrap="square" lIns="0" tIns="0" rIns="0" bIns="0" rtlCol="0" anchor="ctr"/>
          <a:lstStyle/>
          <a:p>
            <a:pPr algn="ctr" indent="0" marL="0">
              <a:buNone/>
            </a:pPr>
            <a:r>
              <a:rPr lang="en-US" sz="1250" b="1" dirty="0">
                <a:solidFill>
                  <a:schemeClr val="accent1"/>
                </a:solidFill>
              </a:rPr>
              <a:t>issue_comments_count</a:t>
            </a:r>
            <a:endParaRPr lang="en-US" sz="1250" dirty="0"/>
          </a:p>
        </p:txBody>
      </p:sp>
      <p:sp>
        <p:nvSpPr>
          <p:cNvPr id="36" name="card Description"/>
          <p:cNvSpPr/>
          <p:nvPr/>
        </p:nvSpPr>
        <p:spPr>
          <a:xfrm>
            <a:off x="6858000" y="2606040"/>
            <a:ext cx="4754880" cy="3520440"/>
          </a:xfrm>
          <a:prstGeom prst="rect">
            <a:avLst/>
          </a:prstGeom>
          <a:solidFill>
            <a:schemeClr val="bg2"/>
          </a:solidFill>
          <a:ln w="12700">
            <a:solidFill>
              <a:schemeClr val="bg2"/>
            </a:solidFill>
            <a:prstDash val="solid"/>
          </a:ln>
        </p:spPr>
      </p:sp>
      <p:sp>
        <p:nvSpPr>
          <p:cNvPr id="37" name="Shape 35"/>
          <p:cNvSpPr/>
          <p:nvPr/>
        </p:nvSpPr>
        <p:spPr>
          <a:xfrm>
            <a:off x="6858000" y="2606040"/>
            <a:ext cx="54864" cy="3520440"/>
          </a:xfrm>
          <a:prstGeom prst="rect">
            <a:avLst/>
          </a:prstGeom>
          <a:solidFill>
            <a:schemeClr val="accent2"/>
          </a:solidFill>
          <a:ln w="12700">
            <a:solidFill>
              <a:schemeClr val="accent2"/>
            </a:solidFill>
            <a:prstDash val="solid"/>
          </a:ln>
        </p:spPr>
      </p:sp>
      <p:sp>
        <p:nvSpPr>
          <p:cNvPr id="38" name="Text 36"/>
          <p:cNvSpPr txBox="1"/>
          <p:nvPr/>
        </p:nvSpPr>
        <p:spPr>
          <a:xfrm>
            <a:off x="7086600" y="2715768"/>
            <a:ext cx="4389120" cy="320040"/>
          </a:xfrm>
          <a:prstGeom prst="rect">
            <a:avLst/>
          </a:prstGeom>
          <a:noFill/>
          <a:ln/>
        </p:spPr>
        <p:txBody>
          <a:bodyPr wrap="square" lIns="0" tIns="0" rIns="0" bIns="0" rtlCol="0" anchor="t"/>
          <a:lstStyle/>
          <a:p>
            <a:pPr indent="0" marL="0">
              <a:buNone/>
            </a:pPr>
            <a:r>
              <a:rPr lang="en-US" sz="1500" b="1" dirty="0">
                <a:solidFill>
                  <a:schemeClr val="tx2"/>
                </a:solidFill>
              </a:rPr>
              <a:t>Description</a:t>
            </a:r>
            <a:endParaRPr lang="en-US" sz="1500" dirty="0"/>
          </a:p>
        </p:txBody>
      </p:sp>
      <p:sp>
        <p:nvSpPr>
          <p:cNvPr id="39" name="Text 37"/>
          <p:cNvSpPr txBox="1"/>
          <p:nvPr/>
        </p:nvSpPr>
        <p:spPr>
          <a:xfrm>
            <a:off x="7086600" y="3081528"/>
            <a:ext cx="4389120" cy="29718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The dataset contains IT helpdesk ticket information.</a:t>
            </a:r>
            <a:endParaRPr lang="en-US" sz="1300" dirty="0"/>
          </a:p>
          <a:p>
            <a:pPr marL="342900" indent="-342900">
              <a:spcAft>
                <a:spcPts val="800"/>
              </a:spcAft>
              <a:buSzPct val="100000"/>
              <a:buChar char="•"/>
            </a:pPr>
            <a:r>
              <a:rPr lang="en-US" sz="1300" dirty="0">
                <a:solidFill>
                  <a:schemeClr val="tx1"/>
                </a:solidFill>
              </a:rPr>
              <a:t>Sprint 1 uses selected fields: ticket identification, project, contributors, issue type, priority, creation date, resolution date, resolution information, status, and comments.</a:t>
            </a:r>
            <a:endParaRPr lang="en-US" sz="1300" dirty="0"/>
          </a:p>
        </p:txBody>
      </p:sp>
      <p:sp>
        <p:nvSpPr>
          <p:cNvPr id="40" name="Text 38"/>
          <p:cNvSpPr txBox="1"/>
          <p:nvPr/>
        </p:nvSpPr>
        <p:spPr>
          <a:xfrm>
            <a:off x="548640" y="5806440"/>
            <a:ext cx="6035040" cy="365760"/>
          </a:xfrm>
          <a:prstGeom prst="rect">
            <a:avLst/>
          </a:prstGeom>
          <a:noFill/>
          <a:ln/>
        </p:spPr>
        <p:txBody>
          <a:bodyPr wrap="square" lIns="0" tIns="0" rIns="0" bIns="0" rtlCol="0" anchor="t"/>
          <a:lstStyle/>
          <a:p>
            <a:pPr indent="0" marL="0">
              <a:buNone/>
            </a:pPr>
            <a:r>
              <a:rPr lang="en-US" sz="1200" i="1" dirty="0">
                <a:solidFill>
                  <a:schemeClr val="accent4"/>
                </a:solidFill>
              </a:rPr>
              <a:t>Dataset source: Not specified in the provided project information.</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Data Collection &amp; Understanding</a:t>
            </a:r>
            <a:endParaRPr lang="en-US" sz="2800" dirty="0"/>
          </a:p>
        </p:txBody>
      </p:sp>
      <p:sp>
        <p:nvSpPr>
          <p:cNvPr id="3" name="card What was done with Pandas"/>
          <p:cNvSpPr/>
          <p:nvPr/>
        </p:nvSpPr>
        <p:spPr>
          <a:xfrm>
            <a:off x="548640" y="1280160"/>
            <a:ext cx="3931920" cy="4892040"/>
          </a:xfrm>
          <a:prstGeom prst="rect">
            <a:avLst/>
          </a:prstGeom>
          <a:solidFill>
            <a:schemeClr val="bg2"/>
          </a:solidFill>
          <a:ln w="12700">
            <a:solidFill>
              <a:schemeClr val="bg2"/>
            </a:solidFill>
            <a:prstDash val="solid"/>
          </a:ln>
        </p:spPr>
      </p:sp>
      <p:sp>
        <p:nvSpPr>
          <p:cNvPr id="4" name="Shape 2"/>
          <p:cNvSpPr/>
          <p:nvPr/>
        </p:nvSpPr>
        <p:spPr>
          <a:xfrm>
            <a:off x="548640" y="1280160"/>
            <a:ext cx="54864" cy="4892040"/>
          </a:xfrm>
          <a:prstGeom prst="rect">
            <a:avLst/>
          </a:prstGeom>
          <a:solidFill>
            <a:schemeClr val="accent1"/>
          </a:solidFill>
          <a:ln w="12700">
            <a:solidFill>
              <a:schemeClr val="accent1"/>
            </a:solidFill>
            <a:prstDash val="solid"/>
          </a:ln>
        </p:spPr>
      </p:sp>
      <p:sp>
        <p:nvSpPr>
          <p:cNvPr id="5" name="Text 3"/>
          <p:cNvSpPr txBox="1"/>
          <p:nvPr/>
        </p:nvSpPr>
        <p:spPr>
          <a:xfrm>
            <a:off x="777240" y="1389888"/>
            <a:ext cx="3566160" cy="320040"/>
          </a:xfrm>
          <a:prstGeom prst="rect">
            <a:avLst/>
          </a:prstGeom>
          <a:noFill/>
          <a:ln/>
        </p:spPr>
        <p:txBody>
          <a:bodyPr wrap="square" lIns="0" tIns="0" rIns="0" bIns="0" rtlCol="0" anchor="t"/>
          <a:lstStyle/>
          <a:p>
            <a:pPr indent="0" marL="0">
              <a:buNone/>
            </a:pPr>
            <a:r>
              <a:rPr lang="en-US" sz="1500" b="1" dirty="0">
                <a:solidFill>
                  <a:schemeClr val="tx2"/>
                </a:solidFill>
              </a:rPr>
              <a:t>What was done with Pandas</a:t>
            </a:r>
            <a:endParaRPr lang="en-US" sz="1500" dirty="0"/>
          </a:p>
        </p:txBody>
      </p:sp>
      <p:sp>
        <p:nvSpPr>
          <p:cNvPr id="6" name="Text 4"/>
          <p:cNvSpPr txBox="1"/>
          <p:nvPr/>
        </p:nvSpPr>
        <p:spPr>
          <a:xfrm>
            <a:off x="777240" y="1755648"/>
            <a:ext cx="3566160" cy="43434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1"/>
                </a:solidFill>
              </a:rPr>
              <a:t>Dataset: Help Desk Tickets; main file issues.csv</a:t>
            </a:r>
            <a:endParaRPr lang="en-US" sz="1250" dirty="0"/>
          </a:p>
          <a:p>
            <a:pPr marL="342900" indent="-342900">
              <a:spcAft>
                <a:spcPts val="500"/>
              </a:spcAft>
              <a:buSzPct val="100000"/>
              <a:buChar char="•"/>
            </a:pPr>
            <a:r>
              <a:rPr lang="en-US" sz="1250" dirty="0">
                <a:solidFill>
                  <a:schemeClr val="tx1"/>
                </a:solidFill>
              </a:rPr>
              <a:t>Shape checked: 66,691 rows × 58 columns</a:t>
            </a:r>
            <a:endParaRPr lang="en-US" sz="1250" dirty="0"/>
          </a:p>
          <a:p>
            <a:pPr marL="342900" indent="-342900">
              <a:spcAft>
                <a:spcPts val="500"/>
              </a:spcAft>
              <a:buSzPct val="100000"/>
              <a:buChar char="•"/>
            </a:pPr>
            <a:r>
              <a:rPr lang="en-US" sz="1250" dirty="0">
                <a:solidFill>
                  <a:schemeClr val="tx1"/>
                </a:solidFill>
              </a:rPr>
              <a:t>Initial rows inspected (head)</a:t>
            </a:r>
            <a:endParaRPr lang="en-US" sz="1250" dirty="0"/>
          </a:p>
          <a:p>
            <a:pPr marL="342900" indent="-342900">
              <a:spcAft>
                <a:spcPts val="500"/>
              </a:spcAft>
              <a:buSzPct val="100000"/>
              <a:buChar char="•"/>
            </a:pPr>
            <a:r>
              <a:rPr lang="en-US" sz="1250" dirty="0">
                <a:solidFill>
                  <a:schemeClr val="tx1"/>
                </a:solidFill>
              </a:rPr>
              <a:t>Dataset info and descriptive statistics examined</a:t>
            </a:r>
            <a:endParaRPr lang="en-US" sz="1250" dirty="0"/>
          </a:p>
          <a:p>
            <a:pPr marL="342900" indent="-342900">
              <a:spcAft>
                <a:spcPts val="500"/>
              </a:spcAft>
              <a:buSzPct val="100000"/>
              <a:buChar char="•"/>
            </a:pPr>
            <a:r>
              <a:rPr lang="en-US" sz="1250" dirty="0">
                <a:solidFill>
                  <a:schemeClr val="tx1"/>
                </a:solidFill>
              </a:rPr>
              <a:t>Duplicate records checked: 0 duplicate rows</a:t>
            </a:r>
            <a:endParaRPr lang="en-US" sz="1250" dirty="0"/>
          </a:p>
          <a:p>
            <a:pPr marL="342900" indent="-342900">
              <a:spcAft>
                <a:spcPts val="500"/>
              </a:spcAft>
              <a:buSzPct val="100000"/>
              <a:buChar char="•"/>
            </a:pPr>
            <a:r>
              <a:rPr lang="en-US" sz="1250" dirty="0">
                <a:solidFill>
                  <a:schemeClr val="tx1"/>
                </a:solidFill>
              </a:rPr>
              <a:t>Missing values checked: issue_resolution_date and issue_resolution each have 853 missing; other selected columns have 0</a:t>
            </a:r>
            <a:endParaRPr lang="en-US" sz="1250" dirty="0"/>
          </a:p>
          <a:p>
            <a:pPr marL="342900" indent="-342900">
              <a:spcAft>
                <a:spcPts val="500"/>
              </a:spcAft>
              <a:buSzPct val="100000"/>
              <a:buChar char="•"/>
            </a:pPr>
            <a:r>
              <a:rPr lang="en-US" sz="1250" dirty="0">
                <a:solidFill>
                  <a:schemeClr val="tx1"/>
                </a:solidFill>
              </a:rPr>
              <a:t>Visible data types: id, issue_contr_count = float64; issue_comments_count = int64; date columns = object (text) before conversion</a:t>
            </a:r>
            <a:endParaRPr lang="en-US" sz="1250" dirty="0"/>
          </a:p>
          <a:p>
            <a:pPr marL="342900" indent="-342900">
              <a:spcAft>
                <a:spcPts val="500"/>
              </a:spcAft>
              <a:buSzPct val="100000"/>
              <a:buChar char="•"/>
            </a:pPr>
            <a:r>
              <a:rPr lang="en-US" sz="1250" dirty="0">
                <a:solidFill>
                  <a:schemeClr val="tx1"/>
                </a:solidFill>
              </a:rPr>
              <a:t>Relevant columns selected for Sprint 1</a:t>
            </a:r>
            <a:endParaRPr lang="en-US" sz="1250" dirty="0"/>
          </a:p>
        </p:txBody>
      </p:sp>
      <p:pic>
        <p:nvPicPr>
          <p:cNvPr id="7" name="Image 0" descr="df.head() output">    </p:cNvPr>
          <p:cNvPicPr>
            <a:picLocks noChangeAspect="1"/>
          </p:cNvPicPr>
          <p:nvPr/>
        </p:nvPicPr>
        <p:blipFill>
          <a:blip r:embed="rId1"/>
          <a:stretch>
            <a:fillRect/>
          </a:stretch>
        </p:blipFill>
        <p:spPr>
          <a:xfrm>
            <a:off x="4663440" y="1280160"/>
            <a:ext cx="6949440" cy="1149401"/>
          </a:xfrm>
          <a:prstGeom prst="rect">
            <a:avLst/>
          </a:prstGeom>
        </p:spPr>
      </p:pic>
      <p:sp>
        <p:nvSpPr>
          <p:cNvPr id="8" name="Shape 5"/>
          <p:cNvSpPr/>
          <p:nvPr/>
        </p:nvSpPr>
        <p:spPr>
          <a:xfrm>
            <a:off x="4663440" y="1280160"/>
            <a:ext cx="6949440" cy="1149401"/>
          </a:xfrm>
          <a:prstGeom prst="rect">
            <a:avLst/>
          </a:prstGeom>
          <a:ln w="9525">
            <a:solidFill>
              <a:schemeClr val="accent4"/>
            </a:solidFill>
            <a:prstDash val="solid"/>
          </a:ln>
        </p:spPr>
      </p:sp>
      <p:sp>
        <p:nvSpPr>
          <p:cNvPr id="9" name="Text 6"/>
          <p:cNvSpPr txBox="1"/>
          <p:nvPr/>
        </p:nvSpPr>
        <p:spPr>
          <a:xfrm>
            <a:off x="4663440" y="2468880"/>
            <a:ext cx="6949440" cy="228600"/>
          </a:xfrm>
          <a:prstGeom prst="rect">
            <a:avLst/>
          </a:prstGeom>
          <a:noFill/>
          <a:ln/>
        </p:spPr>
        <p:txBody>
          <a:bodyPr wrap="square" lIns="0" tIns="0" rIns="0" bIns="0" rtlCol="0" anchor="t"/>
          <a:lstStyle/>
          <a:p>
            <a:pPr indent="0" marL="0">
              <a:buNone/>
            </a:pPr>
            <a:r>
              <a:rPr lang="en-US" sz="1000" i="1" dirty="0">
                <a:solidFill>
                  <a:schemeClr val="accent4"/>
                </a:solidFill>
              </a:rPr>
              <a:t>df.head() (first columns shown)</a:t>
            </a:r>
            <a:endParaRPr lang="en-US" sz="1000" dirty="0"/>
          </a:p>
        </p:txBody>
      </p:sp>
      <p:pic>
        <p:nvPicPr>
          <p:cNvPr id="10" name="Image 1" descr="df.info() output">    </p:cNvPr>
          <p:cNvPicPr>
            <a:picLocks noChangeAspect="1"/>
          </p:cNvPicPr>
          <p:nvPr/>
        </p:nvPicPr>
        <p:blipFill>
          <a:blip r:embed="rId2"/>
          <a:stretch>
            <a:fillRect/>
          </a:stretch>
        </p:blipFill>
        <p:spPr>
          <a:xfrm>
            <a:off x="4663440" y="2752344"/>
            <a:ext cx="3383280" cy="2374697"/>
          </a:xfrm>
          <a:prstGeom prst="rect">
            <a:avLst/>
          </a:prstGeom>
        </p:spPr>
      </p:pic>
      <p:sp>
        <p:nvSpPr>
          <p:cNvPr id="11" name="Shape 7"/>
          <p:cNvSpPr/>
          <p:nvPr/>
        </p:nvSpPr>
        <p:spPr>
          <a:xfrm>
            <a:off x="4663440" y="2752344"/>
            <a:ext cx="3383280" cy="2374697"/>
          </a:xfrm>
          <a:prstGeom prst="rect">
            <a:avLst/>
          </a:prstGeom>
          <a:ln w="9525">
            <a:solidFill>
              <a:schemeClr val="accent4"/>
            </a:solidFill>
            <a:prstDash val="solid"/>
          </a:ln>
        </p:spPr>
      </p:sp>
      <p:sp>
        <p:nvSpPr>
          <p:cNvPr id="12" name="Text 8"/>
          <p:cNvSpPr txBox="1"/>
          <p:nvPr/>
        </p:nvSpPr>
        <p:spPr>
          <a:xfrm>
            <a:off x="4663440" y="5157216"/>
            <a:ext cx="3383280" cy="228600"/>
          </a:xfrm>
          <a:prstGeom prst="rect">
            <a:avLst/>
          </a:prstGeom>
          <a:noFill/>
          <a:ln/>
        </p:spPr>
        <p:txBody>
          <a:bodyPr wrap="square" lIns="0" tIns="0" rIns="0" bIns="0" rtlCol="0" anchor="t"/>
          <a:lstStyle/>
          <a:p>
            <a:pPr indent="0" marL="0">
              <a:buNone/>
            </a:pPr>
            <a:r>
              <a:rPr lang="en-US" sz="1000" i="1" dirty="0">
                <a:solidFill>
                  <a:schemeClr val="accent4"/>
                </a:solidFill>
              </a:rPr>
              <a:t>df.info() (first rows shown)</a:t>
            </a:r>
            <a:endParaRPr lang="en-US" sz="1000" dirty="0"/>
          </a:p>
        </p:txBody>
      </p:sp>
      <p:pic>
        <p:nvPicPr>
          <p:cNvPr id="13" name="Image 2" descr="missing values and duplicates">    </p:cNvPr>
          <p:cNvPicPr>
            <a:picLocks noChangeAspect="1"/>
          </p:cNvPicPr>
          <p:nvPr/>
        </p:nvPicPr>
        <p:blipFill>
          <a:blip r:embed="rId3"/>
          <a:stretch>
            <a:fillRect/>
          </a:stretch>
        </p:blipFill>
        <p:spPr>
          <a:xfrm>
            <a:off x="8229600" y="2752344"/>
            <a:ext cx="3383280" cy="2340864"/>
          </a:xfrm>
          <a:prstGeom prst="rect">
            <a:avLst/>
          </a:prstGeom>
        </p:spPr>
      </p:pic>
      <p:sp>
        <p:nvSpPr>
          <p:cNvPr id="14" name="Shape 9"/>
          <p:cNvSpPr/>
          <p:nvPr/>
        </p:nvSpPr>
        <p:spPr>
          <a:xfrm>
            <a:off x="8229600" y="2752344"/>
            <a:ext cx="3383280" cy="2340864"/>
          </a:xfrm>
          <a:prstGeom prst="rect">
            <a:avLst/>
          </a:prstGeom>
          <a:ln w="9525">
            <a:solidFill>
              <a:schemeClr val="accent4"/>
            </a:solidFill>
            <a:prstDash val="solid"/>
          </a:ln>
        </p:spPr>
      </p:sp>
      <p:sp>
        <p:nvSpPr>
          <p:cNvPr id="15" name="Text 10"/>
          <p:cNvSpPr txBox="1"/>
          <p:nvPr/>
        </p:nvSpPr>
        <p:spPr>
          <a:xfrm>
            <a:off x="8229600" y="5129784"/>
            <a:ext cx="3383280" cy="228600"/>
          </a:xfrm>
          <a:prstGeom prst="rect">
            <a:avLst/>
          </a:prstGeom>
          <a:noFill/>
          <a:ln/>
        </p:spPr>
        <p:txBody>
          <a:bodyPr wrap="square" lIns="0" tIns="0" rIns="0" bIns="0" rtlCol="0" anchor="t"/>
          <a:lstStyle/>
          <a:p>
            <a:pPr indent="0" marL="0">
              <a:buNone/>
            </a:pPr>
            <a:r>
              <a:rPr lang="en-US" sz="1000" i="1" dirty="0">
                <a:solidFill>
                  <a:schemeClr val="accent4"/>
                </a:solidFill>
              </a:rPr>
              <a:t>Missing-value checking</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Data Cleaning &amp; Transformation</a:t>
            </a:r>
            <a:endParaRPr lang="en-US" sz="2800" dirty="0"/>
          </a:p>
        </p:txBody>
      </p:sp>
      <p:sp>
        <p:nvSpPr>
          <p:cNvPr id="3" name="Shape 1"/>
          <p:cNvSpPr/>
          <p:nvPr/>
        </p:nvSpPr>
        <p:spPr>
          <a:xfrm>
            <a:off x="548640" y="1316736"/>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548640" y="13167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97280" y="1280160"/>
            <a:ext cx="4937760" cy="457200"/>
          </a:xfrm>
          <a:prstGeom prst="rect">
            <a:avLst/>
          </a:prstGeom>
          <a:noFill/>
          <a:ln/>
        </p:spPr>
        <p:txBody>
          <a:bodyPr wrap="square" lIns="0" tIns="0" rIns="0" bIns="0" rtlCol="0" anchor="ctr"/>
          <a:lstStyle/>
          <a:p>
            <a:pPr indent="0" marL="0">
              <a:buNone/>
            </a:pPr>
            <a:r>
              <a:rPr lang="en-US" sz="1350" dirty="0">
                <a:solidFill>
                  <a:schemeClr val="tx1"/>
                </a:solidFill>
              </a:rPr>
              <a:t>Selected relevant columns from the original dataset.</a:t>
            </a:r>
            <a:endParaRPr lang="en-US" sz="1350" dirty="0"/>
          </a:p>
        </p:txBody>
      </p:sp>
      <p:sp>
        <p:nvSpPr>
          <p:cNvPr id="6" name="Shape 4"/>
          <p:cNvSpPr/>
          <p:nvPr/>
        </p:nvSpPr>
        <p:spPr>
          <a:xfrm>
            <a:off x="548640" y="1883664"/>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548640" y="188366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097280" y="1847088"/>
            <a:ext cx="4937760" cy="457200"/>
          </a:xfrm>
          <a:prstGeom prst="rect">
            <a:avLst/>
          </a:prstGeom>
          <a:noFill/>
          <a:ln/>
        </p:spPr>
        <p:txBody>
          <a:bodyPr wrap="square" lIns="0" tIns="0" rIns="0" bIns="0" rtlCol="0" anchor="ctr"/>
          <a:lstStyle/>
          <a:p>
            <a:pPr indent="0" marL="0">
              <a:buNone/>
            </a:pPr>
            <a:r>
              <a:rPr lang="en-US" sz="1350" dirty="0">
                <a:solidFill>
                  <a:schemeClr val="tx1"/>
                </a:solidFill>
              </a:rPr>
              <a:t>Converted issue_created into datetime format.</a:t>
            </a:r>
            <a:endParaRPr lang="en-US" sz="1350" dirty="0"/>
          </a:p>
        </p:txBody>
      </p:sp>
      <p:sp>
        <p:nvSpPr>
          <p:cNvPr id="9" name="Shape 7"/>
          <p:cNvSpPr/>
          <p:nvPr/>
        </p:nvSpPr>
        <p:spPr>
          <a:xfrm>
            <a:off x="548640" y="2450592"/>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548640" y="24505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097280" y="2414016"/>
            <a:ext cx="4937760" cy="457200"/>
          </a:xfrm>
          <a:prstGeom prst="rect">
            <a:avLst/>
          </a:prstGeom>
          <a:noFill/>
          <a:ln/>
        </p:spPr>
        <p:txBody>
          <a:bodyPr wrap="square" lIns="0" tIns="0" rIns="0" bIns="0" rtlCol="0" anchor="ctr"/>
          <a:lstStyle/>
          <a:p>
            <a:pPr indent="0" marL="0">
              <a:buNone/>
            </a:pPr>
            <a:r>
              <a:rPr lang="en-US" sz="1350" dirty="0">
                <a:solidFill>
                  <a:schemeClr val="tx1"/>
                </a:solidFill>
              </a:rPr>
              <a:t>Converted issue_resolution_date into datetime format.</a:t>
            </a:r>
            <a:endParaRPr lang="en-US" sz="1350" dirty="0"/>
          </a:p>
        </p:txBody>
      </p:sp>
      <p:sp>
        <p:nvSpPr>
          <p:cNvPr id="12" name="Shape 10"/>
          <p:cNvSpPr/>
          <p:nvPr/>
        </p:nvSpPr>
        <p:spPr>
          <a:xfrm>
            <a:off x="548640" y="3017520"/>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548640" y="3017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1097280" y="2980944"/>
            <a:ext cx="4937760" cy="457200"/>
          </a:xfrm>
          <a:prstGeom prst="rect">
            <a:avLst/>
          </a:prstGeom>
          <a:noFill/>
          <a:ln/>
        </p:spPr>
        <p:txBody>
          <a:bodyPr wrap="square" lIns="0" tIns="0" rIns="0" bIns="0" rtlCol="0" anchor="ctr"/>
          <a:lstStyle/>
          <a:p>
            <a:pPr indent="0" marL="0">
              <a:buNone/>
            </a:pPr>
            <a:r>
              <a:rPr lang="en-US" sz="1350" dirty="0">
                <a:solidFill>
                  <a:schemeClr val="tx1"/>
                </a:solidFill>
              </a:rPr>
              <a:t>Calculated resolution_time_hours.</a:t>
            </a:r>
            <a:endParaRPr lang="en-US" sz="1350" dirty="0"/>
          </a:p>
        </p:txBody>
      </p:sp>
      <p:sp>
        <p:nvSpPr>
          <p:cNvPr id="15" name="Shape 13"/>
          <p:cNvSpPr/>
          <p:nvPr/>
        </p:nvSpPr>
        <p:spPr>
          <a:xfrm>
            <a:off x="548640" y="3584448"/>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548640" y="35844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Text 15"/>
          <p:cNvSpPr txBox="1"/>
          <p:nvPr/>
        </p:nvSpPr>
        <p:spPr>
          <a:xfrm>
            <a:off x="1097280" y="3547872"/>
            <a:ext cx="4937760" cy="457200"/>
          </a:xfrm>
          <a:prstGeom prst="rect">
            <a:avLst/>
          </a:prstGeom>
          <a:noFill/>
          <a:ln/>
        </p:spPr>
        <p:txBody>
          <a:bodyPr wrap="square" lIns="0" tIns="0" rIns="0" bIns="0" rtlCol="0" anchor="ctr"/>
          <a:lstStyle/>
          <a:p>
            <a:pPr indent="0" marL="0">
              <a:buNone/>
            </a:pPr>
            <a:r>
              <a:rPr lang="en-US" sz="1350" dirty="0">
                <a:solidFill>
                  <a:schemeClr val="tx1"/>
                </a:solidFill>
              </a:rPr>
              <a:t>Negative resolution-time values treated as invalid and set to missing.</a:t>
            </a:r>
            <a:endParaRPr lang="en-US" sz="1350" dirty="0"/>
          </a:p>
        </p:txBody>
      </p:sp>
      <p:sp>
        <p:nvSpPr>
          <p:cNvPr id="18" name="Shape 16"/>
          <p:cNvSpPr/>
          <p:nvPr/>
        </p:nvSpPr>
        <p:spPr>
          <a:xfrm>
            <a:off x="548640" y="4151376"/>
            <a:ext cx="384048" cy="384048"/>
          </a:xfrm>
          <a:prstGeom prst="ellipse">
            <a:avLst/>
          </a:prstGeom>
          <a:solidFill>
            <a:schemeClr val="accent1"/>
          </a:solidFill>
          <a:ln w="12700">
            <a:solidFill>
              <a:schemeClr val="accent1"/>
            </a:solidFill>
            <a:prstDash val="solid"/>
          </a:ln>
        </p:spPr>
      </p:sp>
      <p:sp>
        <p:nvSpPr>
          <p:cNvPr id="19" name="Text 17"/>
          <p:cNvSpPr txBox="1"/>
          <p:nvPr/>
        </p:nvSpPr>
        <p:spPr>
          <a:xfrm>
            <a:off x="548640" y="41513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0" name="Text 18"/>
          <p:cNvSpPr txBox="1"/>
          <p:nvPr/>
        </p:nvSpPr>
        <p:spPr>
          <a:xfrm>
            <a:off x="1097280" y="4114800"/>
            <a:ext cx="4937760" cy="457200"/>
          </a:xfrm>
          <a:prstGeom prst="rect">
            <a:avLst/>
          </a:prstGeom>
          <a:noFill/>
          <a:ln/>
        </p:spPr>
        <p:txBody>
          <a:bodyPr wrap="square" lIns="0" tIns="0" rIns="0" bIns="0" rtlCol="0" anchor="ctr"/>
          <a:lstStyle/>
          <a:p>
            <a:pPr indent="0" marL="0">
              <a:buNone/>
            </a:pPr>
            <a:r>
              <a:rPr lang="en-US" sz="1350" dirty="0">
                <a:solidFill>
                  <a:schemeClr val="tx1"/>
                </a:solidFill>
              </a:rPr>
              <a:t>Created a month column from issue_created for monthly analysis.</a:t>
            </a:r>
            <a:endParaRPr lang="en-US" sz="1350" dirty="0"/>
          </a:p>
        </p:txBody>
      </p:sp>
      <p:sp>
        <p:nvSpPr>
          <p:cNvPr id="21" name="Shape 19"/>
          <p:cNvSpPr/>
          <p:nvPr/>
        </p:nvSpPr>
        <p:spPr>
          <a:xfrm>
            <a:off x="548640" y="4800600"/>
            <a:ext cx="5669280" cy="1371600"/>
          </a:xfrm>
          <a:prstGeom prst="rect">
            <a:avLst/>
          </a:prstGeom>
          <a:solidFill>
            <a:schemeClr val="tx2"/>
          </a:solidFill>
          <a:ln w="12700">
            <a:solidFill>
              <a:schemeClr val="tx2"/>
            </a:solidFill>
            <a:prstDash val="solid"/>
          </a:ln>
        </p:spPr>
      </p:sp>
      <p:sp>
        <p:nvSpPr>
          <p:cNvPr id="22" name="Text 20"/>
          <p:cNvSpPr txBox="1"/>
          <p:nvPr/>
        </p:nvSpPr>
        <p:spPr>
          <a:xfrm>
            <a:off x="777240" y="4910328"/>
            <a:ext cx="5486400" cy="228600"/>
          </a:xfrm>
          <a:prstGeom prst="rect">
            <a:avLst/>
          </a:prstGeom>
          <a:noFill/>
          <a:ln/>
        </p:spPr>
        <p:txBody>
          <a:bodyPr wrap="square" lIns="0" tIns="0" rIns="0" bIns="0" rtlCol="0" anchor="t"/>
          <a:lstStyle/>
          <a:p>
            <a:pPr indent="0" marL="0">
              <a:buNone/>
            </a:pPr>
            <a:r>
              <a:rPr lang="en-US" sz="1000" b="1" spc="200" kern="0" dirty="0">
                <a:solidFill>
                  <a:srgbClr val="7DD3C8"/>
                </a:solidFill>
              </a:rPr>
              <a:t>RESOLUTION TIME FORMULA</a:t>
            </a:r>
            <a:endParaRPr lang="en-US" sz="1000" dirty="0"/>
          </a:p>
        </p:txBody>
      </p:sp>
      <p:sp>
        <p:nvSpPr>
          <p:cNvPr id="23" name="Text 21"/>
          <p:cNvSpPr txBox="1"/>
          <p:nvPr/>
        </p:nvSpPr>
        <p:spPr>
          <a:xfrm>
            <a:off x="777240" y="5193792"/>
            <a:ext cx="5303520" cy="365760"/>
          </a:xfrm>
          <a:prstGeom prst="rect">
            <a:avLst/>
          </a:prstGeom>
          <a:noFill/>
          <a:ln/>
        </p:spPr>
        <p:txBody>
          <a:bodyPr wrap="square" lIns="0" tIns="0" rIns="0" bIns="0" rtlCol="0" anchor="t"/>
          <a:lstStyle/>
          <a:p>
            <a:pPr indent="0" marL="0">
              <a:buNone/>
            </a:pPr>
            <a:r>
              <a:rPr lang="en-US" sz="1300" b="1" dirty="0">
                <a:solidFill>
                  <a:schemeClr val="bg1"/>
                </a:solidFill>
              </a:rPr>
              <a:t>Resolution Time = Issue Resolution Date − Issue Created Date</a:t>
            </a:r>
            <a:endParaRPr lang="en-US" sz="1300" dirty="0"/>
          </a:p>
        </p:txBody>
      </p:sp>
      <p:sp>
        <p:nvSpPr>
          <p:cNvPr id="24" name="Text 22"/>
          <p:cNvSpPr txBox="1"/>
          <p:nvPr/>
        </p:nvSpPr>
        <p:spPr>
          <a:xfrm>
            <a:off x="777240" y="5577840"/>
            <a:ext cx="5212080" cy="502920"/>
          </a:xfrm>
          <a:prstGeom prst="rect">
            <a:avLst/>
          </a:prstGeom>
          <a:noFill/>
          <a:ln/>
        </p:spPr>
        <p:txBody>
          <a:bodyPr wrap="square" lIns="0" tIns="0" rIns="0" bIns="0" rtlCol="0" anchor="t"/>
          <a:lstStyle/>
          <a:p>
            <a:pPr indent="0" marL="0">
              <a:buNone/>
            </a:pPr>
            <a:r>
              <a:rPr lang="en-US" sz="1150" dirty="0">
                <a:solidFill>
                  <a:srgbClr val="D6E4F0"/>
                </a:solidFill>
              </a:rPr>
              <a:t>Result: resolution_time_hours. Cleaned data = selected columns + resolution_time_hours + month.</a:t>
            </a:r>
            <a:endParaRPr lang="en-US" sz="1150" dirty="0"/>
          </a:p>
        </p:txBody>
      </p:sp>
      <p:pic>
        <p:nvPicPr>
          <p:cNvPr id="25" name="Image 0" descr="column selection code">    </p:cNvPr>
          <p:cNvPicPr>
            <a:picLocks noChangeAspect="1"/>
          </p:cNvPicPr>
          <p:nvPr/>
        </p:nvPicPr>
        <p:blipFill>
          <a:blip r:embed="rId1"/>
          <a:stretch>
            <a:fillRect/>
          </a:stretch>
        </p:blipFill>
        <p:spPr>
          <a:xfrm>
            <a:off x="6492240" y="1280160"/>
            <a:ext cx="5120640" cy="1349654"/>
          </a:xfrm>
          <a:prstGeom prst="rect">
            <a:avLst/>
          </a:prstGeom>
        </p:spPr>
      </p:pic>
      <p:sp>
        <p:nvSpPr>
          <p:cNvPr id="26" name="Shape 23"/>
          <p:cNvSpPr/>
          <p:nvPr/>
        </p:nvSpPr>
        <p:spPr>
          <a:xfrm>
            <a:off x="6492240" y="1280160"/>
            <a:ext cx="5120640" cy="1349654"/>
          </a:xfrm>
          <a:prstGeom prst="rect">
            <a:avLst/>
          </a:prstGeom>
          <a:ln w="9525">
            <a:solidFill>
              <a:schemeClr val="accent4"/>
            </a:solidFill>
            <a:prstDash val="solid"/>
          </a:ln>
        </p:spPr>
      </p:sp>
      <p:pic>
        <p:nvPicPr>
          <p:cNvPr id="27" name="Image 1" descr="datetime conversion">    </p:cNvPr>
          <p:cNvPicPr>
            <a:picLocks noChangeAspect="1"/>
          </p:cNvPicPr>
          <p:nvPr/>
        </p:nvPicPr>
        <p:blipFill>
          <a:blip r:embed="rId2"/>
          <a:stretch>
            <a:fillRect/>
          </a:stretch>
        </p:blipFill>
        <p:spPr>
          <a:xfrm>
            <a:off x="6492240" y="2724912"/>
            <a:ext cx="5120640" cy="1522476"/>
          </a:xfrm>
          <a:prstGeom prst="rect">
            <a:avLst/>
          </a:prstGeom>
        </p:spPr>
      </p:pic>
      <p:sp>
        <p:nvSpPr>
          <p:cNvPr id="28" name="Shape 24"/>
          <p:cNvSpPr/>
          <p:nvPr/>
        </p:nvSpPr>
        <p:spPr>
          <a:xfrm>
            <a:off x="6492240" y="2724912"/>
            <a:ext cx="5120640" cy="1522476"/>
          </a:xfrm>
          <a:prstGeom prst="rect">
            <a:avLst/>
          </a:prstGeom>
          <a:ln w="9525">
            <a:solidFill>
              <a:schemeClr val="accent4"/>
            </a:solidFill>
            <a:prstDash val="solid"/>
          </a:ln>
        </p:spPr>
      </p:sp>
      <p:pic>
        <p:nvPicPr>
          <p:cNvPr id="29" name="Image 2" descr="resolution_time_hours calculation">    </p:cNvPr>
          <p:cNvPicPr>
            <a:picLocks noChangeAspect="1"/>
          </p:cNvPicPr>
          <p:nvPr/>
        </p:nvPicPr>
        <p:blipFill>
          <a:blip r:embed="rId3"/>
          <a:stretch>
            <a:fillRect/>
          </a:stretch>
        </p:blipFill>
        <p:spPr>
          <a:xfrm>
            <a:off x="6492240" y="4334256"/>
            <a:ext cx="5120640" cy="1634033"/>
          </a:xfrm>
          <a:prstGeom prst="rect">
            <a:avLst/>
          </a:prstGeom>
        </p:spPr>
      </p:pic>
      <p:sp>
        <p:nvSpPr>
          <p:cNvPr id="30" name="Shape 25"/>
          <p:cNvSpPr/>
          <p:nvPr/>
        </p:nvSpPr>
        <p:spPr>
          <a:xfrm>
            <a:off x="6492240" y="4334256"/>
            <a:ext cx="5120640" cy="1634033"/>
          </a:xfrm>
          <a:prstGeom prst="rect">
            <a:avLst/>
          </a:prstGeom>
          <a:ln w="9525">
            <a:solidFill>
              <a:schemeClr val="accent4"/>
            </a:solidFill>
            <a:prstDash val="solid"/>
          </a:ln>
        </p:spPr>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Exploratory Data Analysis</a:t>
            </a:r>
            <a:endParaRPr lang="en-US" sz="2800" dirty="0"/>
          </a:p>
        </p:txBody>
      </p:sp>
      <p:sp>
        <p:nvSpPr>
          <p:cNvPr id="3" name="card Ticket Priority"/>
          <p:cNvSpPr/>
          <p:nvPr/>
        </p:nvSpPr>
        <p:spPr>
          <a:xfrm>
            <a:off x="548640" y="1280160"/>
            <a:ext cx="3566160" cy="1280160"/>
          </a:xfrm>
          <a:prstGeom prst="rect">
            <a:avLst/>
          </a:prstGeom>
          <a:solidFill>
            <a:schemeClr val="bg2"/>
          </a:solidFill>
          <a:ln w="12700">
            <a:solidFill>
              <a:schemeClr val="bg2"/>
            </a:solidFill>
            <a:prstDash val="solid"/>
          </a:ln>
        </p:spPr>
      </p:sp>
      <p:sp>
        <p:nvSpPr>
          <p:cNvPr id="4" name="Shape 2"/>
          <p:cNvSpPr/>
          <p:nvPr/>
        </p:nvSpPr>
        <p:spPr>
          <a:xfrm>
            <a:off x="548640" y="1280160"/>
            <a:ext cx="54864" cy="1280160"/>
          </a:xfrm>
          <a:prstGeom prst="rect">
            <a:avLst/>
          </a:prstGeom>
          <a:solidFill>
            <a:schemeClr val="accent1"/>
          </a:solidFill>
          <a:ln w="12700">
            <a:solidFill>
              <a:schemeClr val="accent1"/>
            </a:solidFill>
            <a:prstDash val="solid"/>
          </a:ln>
        </p:spPr>
      </p:sp>
      <p:sp>
        <p:nvSpPr>
          <p:cNvPr id="5" name="Text 3"/>
          <p:cNvSpPr txBox="1"/>
          <p:nvPr/>
        </p:nvSpPr>
        <p:spPr>
          <a:xfrm>
            <a:off x="777240" y="1389888"/>
            <a:ext cx="3200400" cy="320040"/>
          </a:xfrm>
          <a:prstGeom prst="rect">
            <a:avLst/>
          </a:prstGeom>
          <a:noFill/>
          <a:ln/>
        </p:spPr>
        <p:txBody>
          <a:bodyPr wrap="square" lIns="0" tIns="0" rIns="0" bIns="0" rtlCol="0" anchor="t"/>
          <a:lstStyle/>
          <a:p>
            <a:pPr indent="0" marL="0">
              <a:buNone/>
            </a:pPr>
            <a:r>
              <a:rPr lang="en-US" sz="1400" b="1" dirty="0">
                <a:solidFill>
                  <a:schemeClr val="tx2"/>
                </a:solidFill>
              </a:rPr>
              <a:t>Ticket Priority</a:t>
            </a:r>
            <a:endParaRPr lang="en-US" sz="1400" dirty="0"/>
          </a:p>
        </p:txBody>
      </p:sp>
      <p:sp>
        <p:nvSpPr>
          <p:cNvPr id="6" name="Text 4"/>
          <p:cNvSpPr txBox="1"/>
          <p:nvPr/>
        </p:nvSpPr>
        <p:spPr>
          <a:xfrm>
            <a:off x="777240" y="1755648"/>
            <a:ext cx="3200400" cy="731520"/>
          </a:xfrm>
          <a:prstGeom prst="rect">
            <a:avLst/>
          </a:prstGeom>
          <a:noFill/>
          <a:ln/>
        </p:spPr>
        <p:txBody>
          <a:bodyPr wrap="square" lIns="0" tIns="0" rIns="0" bIns="0" rtlCol="0" anchor="t"/>
          <a:lstStyle/>
          <a:p>
            <a:pPr marL="342900" indent="-342900">
              <a:buSzPct val="100000"/>
              <a:buChar char="•"/>
            </a:pPr>
            <a:r>
              <a:rPr lang="en-US" sz="1250" dirty="0">
                <a:solidFill>
                  <a:schemeClr val="tx1"/>
                </a:solidFill>
              </a:rPr>
              <a:t>Counts via Pandas value_counts()</a:t>
            </a:r>
            <a:endParaRPr lang="en-US" sz="1250" dirty="0"/>
          </a:p>
        </p:txBody>
      </p:sp>
      <p:sp>
        <p:nvSpPr>
          <p:cNvPr id="7" name="card Issue Type"/>
          <p:cNvSpPr/>
          <p:nvPr/>
        </p:nvSpPr>
        <p:spPr>
          <a:xfrm>
            <a:off x="4297680" y="1280160"/>
            <a:ext cx="3566160" cy="1280160"/>
          </a:xfrm>
          <a:prstGeom prst="rect">
            <a:avLst/>
          </a:prstGeom>
          <a:solidFill>
            <a:schemeClr val="bg2"/>
          </a:solidFill>
          <a:ln w="12700">
            <a:solidFill>
              <a:schemeClr val="bg2"/>
            </a:solidFill>
            <a:prstDash val="solid"/>
          </a:ln>
        </p:spPr>
      </p:sp>
      <p:sp>
        <p:nvSpPr>
          <p:cNvPr id="8" name="Shape 6"/>
          <p:cNvSpPr/>
          <p:nvPr/>
        </p:nvSpPr>
        <p:spPr>
          <a:xfrm>
            <a:off x="4297680" y="1280160"/>
            <a:ext cx="54864" cy="1280160"/>
          </a:xfrm>
          <a:prstGeom prst="rect">
            <a:avLst/>
          </a:prstGeom>
          <a:solidFill>
            <a:schemeClr val="accent2"/>
          </a:solidFill>
          <a:ln w="12700">
            <a:solidFill>
              <a:schemeClr val="accent2"/>
            </a:solidFill>
            <a:prstDash val="solid"/>
          </a:ln>
        </p:spPr>
      </p:sp>
      <p:sp>
        <p:nvSpPr>
          <p:cNvPr id="9" name="Text 7"/>
          <p:cNvSpPr txBox="1"/>
          <p:nvPr/>
        </p:nvSpPr>
        <p:spPr>
          <a:xfrm>
            <a:off x="4526280" y="1389888"/>
            <a:ext cx="3200400" cy="320040"/>
          </a:xfrm>
          <a:prstGeom prst="rect">
            <a:avLst/>
          </a:prstGeom>
          <a:noFill/>
          <a:ln/>
        </p:spPr>
        <p:txBody>
          <a:bodyPr wrap="square" lIns="0" tIns="0" rIns="0" bIns="0" rtlCol="0" anchor="t"/>
          <a:lstStyle/>
          <a:p>
            <a:pPr indent="0" marL="0">
              <a:buNone/>
            </a:pPr>
            <a:r>
              <a:rPr lang="en-US" sz="1400" b="1" dirty="0">
                <a:solidFill>
                  <a:schemeClr val="tx2"/>
                </a:solidFill>
              </a:rPr>
              <a:t>Issue Type</a:t>
            </a:r>
            <a:endParaRPr lang="en-US" sz="1400" dirty="0"/>
          </a:p>
        </p:txBody>
      </p:sp>
      <p:sp>
        <p:nvSpPr>
          <p:cNvPr id="10" name="Text 8"/>
          <p:cNvSpPr txBox="1"/>
          <p:nvPr/>
        </p:nvSpPr>
        <p:spPr>
          <a:xfrm>
            <a:off x="4526280" y="1755648"/>
            <a:ext cx="3200400" cy="731520"/>
          </a:xfrm>
          <a:prstGeom prst="rect">
            <a:avLst/>
          </a:prstGeom>
          <a:noFill/>
          <a:ln/>
        </p:spPr>
        <p:txBody>
          <a:bodyPr wrap="square" lIns="0" tIns="0" rIns="0" bIns="0" rtlCol="0" anchor="t"/>
          <a:lstStyle/>
          <a:p>
            <a:pPr marL="342900" indent="-342900">
              <a:buSzPct val="100000"/>
              <a:buChar char="•"/>
            </a:pPr>
            <a:r>
              <a:rPr lang="en-US" sz="1250" dirty="0">
                <a:solidFill>
                  <a:schemeClr val="tx1"/>
                </a:solidFill>
              </a:rPr>
              <a:t>Ticket distribution by issue type</a:t>
            </a:r>
            <a:endParaRPr lang="en-US" sz="1250" dirty="0"/>
          </a:p>
        </p:txBody>
      </p:sp>
      <p:sp>
        <p:nvSpPr>
          <p:cNvPr id="11" name="card Project-wise"/>
          <p:cNvSpPr/>
          <p:nvPr/>
        </p:nvSpPr>
        <p:spPr>
          <a:xfrm>
            <a:off x="8046720" y="1280160"/>
            <a:ext cx="3566160" cy="1280160"/>
          </a:xfrm>
          <a:prstGeom prst="rect">
            <a:avLst/>
          </a:prstGeom>
          <a:solidFill>
            <a:schemeClr val="bg2"/>
          </a:solidFill>
          <a:ln w="12700">
            <a:solidFill>
              <a:schemeClr val="bg2"/>
            </a:solidFill>
            <a:prstDash val="solid"/>
          </a:ln>
        </p:spPr>
      </p:sp>
      <p:sp>
        <p:nvSpPr>
          <p:cNvPr id="12" name="Shape 10"/>
          <p:cNvSpPr/>
          <p:nvPr/>
        </p:nvSpPr>
        <p:spPr>
          <a:xfrm>
            <a:off x="8046720" y="1280160"/>
            <a:ext cx="54864" cy="1280160"/>
          </a:xfrm>
          <a:prstGeom prst="rect">
            <a:avLst/>
          </a:prstGeom>
          <a:solidFill>
            <a:schemeClr val="accent1"/>
          </a:solidFill>
          <a:ln w="12700">
            <a:solidFill>
              <a:schemeClr val="accent1"/>
            </a:solidFill>
            <a:prstDash val="solid"/>
          </a:ln>
        </p:spPr>
      </p:sp>
      <p:sp>
        <p:nvSpPr>
          <p:cNvPr id="13" name="Text 11"/>
          <p:cNvSpPr txBox="1"/>
          <p:nvPr/>
        </p:nvSpPr>
        <p:spPr>
          <a:xfrm>
            <a:off x="8275320" y="1389888"/>
            <a:ext cx="3200400" cy="320040"/>
          </a:xfrm>
          <a:prstGeom prst="rect">
            <a:avLst/>
          </a:prstGeom>
          <a:noFill/>
          <a:ln/>
        </p:spPr>
        <p:txBody>
          <a:bodyPr wrap="square" lIns="0" tIns="0" rIns="0" bIns="0" rtlCol="0" anchor="t"/>
          <a:lstStyle/>
          <a:p>
            <a:pPr indent="0" marL="0">
              <a:buNone/>
            </a:pPr>
            <a:r>
              <a:rPr lang="en-US" sz="1400" b="1" dirty="0">
                <a:solidFill>
                  <a:schemeClr val="tx2"/>
                </a:solidFill>
              </a:rPr>
              <a:t>Project-wise</a:t>
            </a:r>
            <a:endParaRPr lang="en-US" sz="1400" dirty="0"/>
          </a:p>
        </p:txBody>
      </p:sp>
      <p:sp>
        <p:nvSpPr>
          <p:cNvPr id="14" name="Text 12"/>
          <p:cNvSpPr txBox="1"/>
          <p:nvPr/>
        </p:nvSpPr>
        <p:spPr>
          <a:xfrm>
            <a:off x="8275320" y="1755648"/>
            <a:ext cx="3200400" cy="731520"/>
          </a:xfrm>
          <a:prstGeom prst="rect">
            <a:avLst/>
          </a:prstGeom>
          <a:noFill/>
          <a:ln/>
        </p:spPr>
        <p:txBody>
          <a:bodyPr wrap="square" lIns="0" tIns="0" rIns="0" bIns="0" rtlCol="0" anchor="t"/>
          <a:lstStyle/>
          <a:p>
            <a:pPr marL="342900" indent="-342900">
              <a:buSzPct val="100000"/>
              <a:buChar char="•"/>
            </a:pPr>
            <a:r>
              <a:rPr lang="en-US" sz="1250" dirty="0">
                <a:solidFill>
                  <a:schemeClr val="tx1"/>
                </a:solidFill>
              </a:rPr>
              <a:t>Ticket volume across projects</a:t>
            </a:r>
            <a:endParaRPr lang="en-US" sz="1250" dirty="0"/>
          </a:p>
        </p:txBody>
      </p:sp>
      <p:sp>
        <p:nvSpPr>
          <p:cNvPr id="15" name="card Resolution Time Statistics"/>
          <p:cNvSpPr/>
          <p:nvPr/>
        </p:nvSpPr>
        <p:spPr>
          <a:xfrm>
            <a:off x="548640" y="2697480"/>
            <a:ext cx="3566160" cy="1280160"/>
          </a:xfrm>
          <a:prstGeom prst="rect">
            <a:avLst/>
          </a:prstGeom>
          <a:solidFill>
            <a:schemeClr val="bg2"/>
          </a:solidFill>
          <a:ln w="12700">
            <a:solidFill>
              <a:schemeClr val="bg2"/>
            </a:solidFill>
            <a:prstDash val="solid"/>
          </a:ln>
        </p:spPr>
      </p:sp>
      <p:sp>
        <p:nvSpPr>
          <p:cNvPr id="16" name="Shape 14"/>
          <p:cNvSpPr/>
          <p:nvPr/>
        </p:nvSpPr>
        <p:spPr>
          <a:xfrm>
            <a:off x="548640" y="2697480"/>
            <a:ext cx="54864" cy="1280160"/>
          </a:xfrm>
          <a:prstGeom prst="rect">
            <a:avLst/>
          </a:prstGeom>
          <a:solidFill>
            <a:schemeClr val="accent2"/>
          </a:solidFill>
          <a:ln w="12700">
            <a:solidFill>
              <a:schemeClr val="accent2"/>
            </a:solidFill>
            <a:prstDash val="solid"/>
          </a:ln>
        </p:spPr>
      </p:sp>
      <p:sp>
        <p:nvSpPr>
          <p:cNvPr id="17" name="Text 15"/>
          <p:cNvSpPr txBox="1"/>
          <p:nvPr/>
        </p:nvSpPr>
        <p:spPr>
          <a:xfrm>
            <a:off x="777240" y="2807208"/>
            <a:ext cx="3200400" cy="320040"/>
          </a:xfrm>
          <a:prstGeom prst="rect">
            <a:avLst/>
          </a:prstGeom>
          <a:noFill/>
          <a:ln/>
        </p:spPr>
        <p:txBody>
          <a:bodyPr wrap="square" lIns="0" tIns="0" rIns="0" bIns="0" rtlCol="0" anchor="t"/>
          <a:lstStyle/>
          <a:p>
            <a:pPr indent="0" marL="0">
              <a:buNone/>
            </a:pPr>
            <a:r>
              <a:rPr lang="en-US" sz="1400" b="1" dirty="0">
                <a:solidFill>
                  <a:schemeClr val="tx2"/>
                </a:solidFill>
              </a:rPr>
              <a:t>Resolution Time Statistics</a:t>
            </a:r>
            <a:endParaRPr lang="en-US" sz="1400" dirty="0"/>
          </a:p>
        </p:txBody>
      </p:sp>
      <p:sp>
        <p:nvSpPr>
          <p:cNvPr id="18" name="Text 16"/>
          <p:cNvSpPr txBox="1"/>
          <p:nvPr/>
        </p:nvSpPr>
        <p:spPr>
          <a:xfrm>
            <a:off x="777240" y="3172968"/>
            <a:ext cx="3200400" cy="731520"/>
          </a:xfrm>
          <a:prstGeom prst="rect">
            <a:avLst/>
          </a:prstGeom>
          <a:noFill/>
          <a:ln/>
        </p:spPr>
        <p:txBody>
          <a:bodyPr wrap="square" lIns="0" tIns="0" rIns="0" bIns="0" rtlCol="0" anchor="t"/>
          <a:lstStyle/>
          <a:p>
            <a:pPr marL="342900" indent="-342900">
              <a:buSzPct val="100000"/>
              <a:buChar char="•"/>
            </a:pPr>
            <a:r>
              <a:rPr lang="en-US" sz="1250" dirty="0">
                <a:solidFill>
                  <a:schemeClr val="tx1"/>
                </a:solidFill>
              </a:rPr>
              <a:t>NumPy: mean, median, minimum, maximum, standard deviation</a:t>
            </a:r>
            <a:endParaRPr lang="en-US" sz="1250" dirty="0"/>
          </a:p>
        </p:txBody>
      </p:sp>
      <p:sp>
        <p:nvSpPr>
          <p:cNvPr id="19" name="card Resolution Time by Priority"/>
          <p:cNvSpPr/>
          <p:nvPr/>
        </p:nvSpPr>
        <p:spPr>
          <a:xfrm>
            <a:off x="4297680" y="2697480"/>
            <a:ext cx="3566160" cy="1280160"/>
          </a:xfrm>
          <a:prstGeom prst="rect">
            <a:avLst/>
          </a:prstGeom>
          <a:solidFill>
            <a:schemeClr val="bg2"/>
          </a:solidFill>
          <a:ln w="12700">
            <a:solidFill>
              <a:schemeClr val="bg2"/>
            </a:solidFill>
            <a:prstDash val="solid"/>
          </a:ln>
        </p:spPr>
      </p:sp>
      <p:sp>
        <p:nvSpPr>
          <p:cNvPr id="20" name="Shape 18"/>
          <p:cNvSpPr/>
          <p:nvPr/>
        </p:nvSpPr>
        <p:spPr>
          <a:xfrm>
            <a:off x="4297680" y="2697480"/>
            <a:ext cx="54864" cy="1280160"/>
          </a:xfrm>
          <a:prstGeom prst="rect">
            <a:avLst/>
          </a:prstGeom>
          <a:solidFill>
            <a:schemeClr val="accent1"/>
          </a:solidFill>
          <a:ln w="12700">
            <a:solidFill>
              <a:schemeClr val="accent1"/>
            </a:solidFill>
            <a:prstDash val="solid"/>
          </a:ln>
        </p:spPr>
      </p:sp>
      <p:sp>
        <p:nvSpPr>
          <p:cNvPr id="21" name="Text 19"/>
          <p:cNvSpPr txBox="1"/>
          <p:nvPr/>
        </p:nvSpPr>
        <p:spPr>
          <a:xfrm>
            <a:off x="4526280" y="2807208"/>
            <a:ext cx="3200400" cy="320040"/>
          </a:xfrm>
          <a:prstGeom prst="rect">
            <a:avLst/>
          </a:prstGeom>
          <a:noFill/>
          <a:ln/>
        </p:spPr>
        <p:txBody>
          <a:bodyPr wrap="square" lIns="0" tIns="0" rIns="0" bIns="0" rtlCol="0" anchor="t"/>
          <a:lstStyle/>
          <a:p>
            <a:pPr indent="0" marL="0">
              <a:buNone/>
            </a:pPr>
            <a:r>
              <a:rPr lang="en-US" sz="1400" b="1" dirty="0">
                <a:solidFill>
                  <a:schemeClr val="tx2"/>
                </a:solidFill>
              </a:rPr>
              <a:t>Resolution Time by Priority</a:t>
            </a:r>
            <a:endParaRPr lang="en-US" sz="1400" dirty="0"/>
          </a:p>
        </p:txBody>
      </p:sp>
      <p:sp>
        <p:nvSpPr>
          <p:cNvPr id="22" name="Text 20"/>
          <p:cNvSpPr txBox="1"/>
          <p:nvPr/>
        </p:nvSpPr>
        <p:spPr>
          <a:xfrm>
            <a:off x="4526280" y="3172968"/>
            <a:ext cx="3200400" cy="731520"/>
          </a:xfrm>
          <a:prstGeom prst="rect">
            <a:avLst/>
          </a:prstGeom>
          <a:noFill/>
          <a:ln/>
        </p:spPr>
        <p:txBody>
          <a:bodyPr wrap="square" lIns="0" tIns="0" rIns="0" bIns="0" rtlCol="0" anchor="t"/>
          <a:lstStyle/>
          <a:p>
            <a:pPr marL="342900" indent="-342900">
              <a:buSzPct val="100000"/>
              <a:buChar char="•"/>
            </a:pPr>
            <a:r>
              <a:rPr lang="en-US" sz="1250" dirty="0">
                <a:solidFill>
                  <a:schemeClr val="tx1"/>
                </a:solidFill>
              </a:rPr>
              <a:t>Grouped by priority: count, mean, median</a:t>
            </a:r>
            <a:endParaRPr lang="en-US" sz="1250" dirty="0"/>
          </a:p>
        </p:txBody>
      </p:sp>
      <p:sp>
        <p:nvSpPr>
          <p:cNvPr id="23" name="card Resolution Time by Issue Type"/>
          <p:cNvSpPr/>
          <p:nvPr/>
        </p:nvSpPr>
        <p:spPr>
          <a:xfrm>
            <a:off x="8046720" y="2697480"/>
            <a:ext cx="3566160" cy="1280160"/>
          </a:xfrm>
          <a:prstGeom prst="rect">
            <a:avLst/>
          </a:prstGeom>
          <a:solidFill>
            <a:schemeClr val="bg2"/>
          </a:solidFill>
          <a:ln w="12700">
            <a:solidFill>
              <a:schemeClr val="bg2"/>
            </a:solidFill>
            <a:prstDash val="solid"/>
          </a:ln>
        </p:spPr>
      </p:sp>
      <p:sp>
        <p:nvSpPr>
          <p:cNvPr id="24" name="Shape 22"/>
          <p:cNvSpPr/>
          <p:nvPr/>
        </p:nvSpPr>
        <p:spPr>
          <a:xfrm>
            <a:off x="8046720" y="2697480"/>
            <a:ext cx="54864" cy="1280160"/>
          </a:xfrm>
          <a:prstGeom prst="rect">
            <a:avLst/>
          </a:prstGeom>
          <a:solidFill>
            <a:schemeClr val="accent2"/>
          </a:solidFill>
          <a:ln w="12700">
            <a:solidFill>
              <a:schemeClr val="accent2"/>
            </a:solidFill>
            <a:prstDash val="solid"/>
          </a:ln>
        </p:spPr>
      </p:sp>
      <p:sp>
        <p:nvSpPr>
          <p:cNvPr id="25" name="Text 23"/>
          <p:cNvSpPr txBox="1"/>
          <p:nvPr/>
        </p:nvSpPr>
        <p:spPr>
          <a:xfrm>
            <a:off x="8275320" y="2807208"/>
            <a:ext cx="3200400" cy="320040"/>
          </a:xfrm>
          <a:prstGeom prst="rect">
            <a:avLst/>
          </a:prstGeom>
          <a:noFill/>
          <a:ln/>
        </p:spPr>
        <p:txBody>
          <a:bodyPr wrap="square" lIns="0" tIns="0" rIns="0" bIns="0" rtlCol="0" anchor="t"/>
          <a:lstStyle/>
          <a:p>
            <a:pPr indent="0" marL="0">
              <a:buNone/>
            </a:pPr>
            <a:r>
              <a:rPr lang="en-US" sz="1400" b="1" dirty="0">
                <a:solidFill>
                  <a:schemeClr val="tx2"/>
                </a:solidFill>
              </a:rPr>
              <a:t>Resolution Time by Issue Type</a:t>
            </a:r>
            <a:endParaRPr lang="en-US" sz="1400" dirty="0"/>
          </a:p>
        </p:txBody>
      </p:sp>
      <p:sp>
        <p:nvSpPr>
          <p:cNvPr id="26" name="Text 24"/>
          <p:cNvSpPr txBox="1"/>
          <p:nvPr/>
        </p:nvSpPr>
        <p:spPr>
          <a:xfrm>
            <a:off x="8275320" y="3172968"/>
            <a:ext cx="3200400" cy="731520"/>
          </a:xfrm>
          <a:prstGeom prst="rect">
            <a:avLst/>
          </a:prstGeom>
          <a:noFill/>
          <a:ln/>
        </p:spPr>
        <p:txBody>
          <a:bodyPr wrap="square" lIns="0" tIns="0" rIns="0" bIns="0" rtlCol="0" anchor="t"/>
          <a:lstStyle/>
          <a:p>
            <a:pPr marL="342900" indent="-342900">
              <a:buSzPct val="100000"/>
              <a:buChar char="•"/>
            </a:pPr>
            <a:r>
              <a:rPr lang="en-US" sz="1250" dirty="0">
                <a:solidFill>
                  <a:schemeClr val="tx1"/>
                </a:solidFill>
              </a:rPr>
              <a:t>Grouped by issue type: count, mean, median</a:t>
            </a:r>
            <a:endParaRPr lang="en-US" sz="1250" dirty="0"/>
          </a:p>
        </p:txBody>
      </p:sp>
      <p:sp>
        <p:nvSpPr>
          <p:cNvPr id="27" name="card Comments &amp; Resolution Time"/>
          <p:cNvSpPr/>
          <p:nvPr/>
        </p:nvSpPr>
        <p:spPr>
          <a:xfrm>
            <a:off x="548640" y="4114800"/>
            <a:ext cx="3566160" cy="1280160"/>
          </a:xfrm>
          <a:prstGeom prst="rect">
            <a:avLst/>
          </a:prstGeom>
          <a:solidFill>
            <a:schemeClr val="bg2"/>
          </a:solidFill>
          <a:ln w="12700">
            <a:solidFill>
              <a:schemeClr val="bg2"/>
            </a:solidFill>
            <a:prstDash val="solid"/>
          </a:ln>
        </p:spPr>
      </p:sp>
      <p:sp>
        <p:nvSpPr>
          <p:cNvPr id="28" name="Shape 26"/>
          <p:cNvSpPr/>
          <p:nvPr/>
        </p:nvSpPr>
        <p:spPr>
          <a:xfrm>
            <a:off x="548640" y="4114800"/>
            <a:ext cx="54864" cy="1280160"/>
          </a:xfrm>
          <a:prstGeom prst="rect">
            <a:avLst/>
          </a:prstGeom>
          <a:solidFill>
            <a:schemeClr val="accent1"/>
          </a:solidFill>
          <a:ln w="12700">
            <a:solidFill>
              <a:schemeClr val="accent1"/>
            </a:solidFill>
            <a:prstDash val="solid"/>
          </a:ln>
        </p:spPr>
      </p:sp>
      <p:sp>
        <p:nvSpPr>
          <p:cNvPr id="29" name="Text 27"/>
          <p:cNvSpPr txBox="1"/>
          <p:nvPr/>
        </p:nvSpPr>
        <p:spPr>
          <a:xfrm>
            <a:off x="777240" y="4224528"/>
            <a:ext cx="3200400" cy="320040"/>
          </a:xfrm>
          <a:prstGeom prst="rect">
            <a:avLst/>
          </a:prstGeom>
          <a:noFill/>
          <a:ln/>
        </p:spPr>
        <p:txBody>
          <a:bodyPr wrap="square" lIns="0" tIns="0" rIns="0" bIns="0" rtlCol="0" anchor="t"/>
          <a:lstStyle/>
          <a:p>
            <a:pPr indent="0" marL="0">
              <a:buNone/>
            </a:pPr>
            <a:r>
              <a:rPr lang="en-US" sz="1400" b="1" dirty="0">
                <a:solidFill>
                  <a:schemeClr val="tx2"/>
                </a:solidFill>
              </a:rPr>
              <a:t>Comments &amp; Resolution Time</a:t>
            </a:r>
            <a:endParaRPr lang="en-US" sz="1400" dirty="0"/>
          </a:p>
        </p:txBody>
      </p:sp>
      <p:sp>
        <p:nvSpPr>
          <p:cNvPr id="30" name="Text 28"/>
          <p:cNvSpPr txBox="1"/>
          <p:nvPr/>
        </p:nvSpPr>
        <p:spPr>
          <a:xfrm>
            <a:off x="777240" y="4590288"/>
            <a:ext cx="3200400" cy="731520"/>
          </a:xfrm>
          <a:prstGeom prst="rect">
            <a:avLst/>
          </a:prstGeom>
          <a:noFill/>
          <a:ln/>
        </p:spPr>
        <p:txBody>
          <a:bodyPr wrap="square" lIns="0" tIns="0" rIns="0" bIns="0" rtlCol="0" anchor="t"/>
          <a:lstStyle/>
          <a:p>
            <a:pPr marL="342900" indent="-342900">
              <a:buSzPct val="100000"/>
              <a:buChar char="•"/>
            </a:pPr>
            <a:r>
              <a:rPr lang="en-US" sz="1250" dirty="0">
                <a:solidFill>
                  <a:schemeClr val="tx1"/>
                </a:solidFill>
              </a:rPr>
              <a:t>Relationship between comment count and resolution time</a:t>
            </a:r>
            <a:endParaRPr lang="en-US" sz="1250" dirty="0"/>
          </a:p>
        </p:txBody>
      </p:sp>
      <p:sp>
        <p:nvSpPr>
          <p:cNvPr id="31" name="card Contributors &amp; Resolution Time"/>
          <p:cNvSpPr/>
          <p:nvPr/>
        </p:nvSpPr>
        <p:spPr>
          <a:xfrm>
            <a:off x="4297680" y="4114800"/>
            <a:ext cx="3566160" cy="1280160"/>
          </a:xfrm>
          <a:prstGeom prst="rect">
            <a:avLst/>
          </a:prstGeom>
          <a:solidFill>
            <a:schemeClr val="bg2"/>
          </a:solidFill>
          <a:ln w="12700">
            <a:solidFill>
              <a:schemeClr val="bg2"/>
            </a:solidFill>
            <a:prstDash val="solid"/>
          </a:ln>
        </p:spPr>
      </p:sp>
      <p:sp>
        <p:nvSpPr>
          <p:cNvPr id="32" name="Shape 30"/>
          <p:cNvSpPr/>
          <p:nvPr/>
        </p:nvSpPr>
        <p:spPr>
          <a:xfrm>
            <a:off x="4297680" y="4114800"/>
            <a:ext cx="54864" cy="1280160"/>
          </a:xfrm>
          <a:prstGeom prst="rect">
            <a:avLst/>
          </a:prstGeom>
          <a:solidFill>
            <a:schemeClr val="accent2"/>
          </a:solidFill>
          <a:ln w="12700">
            <a:solidFill>
              <a:schemeClr val="accent2"/>
            </a:solidFill>
            <a:prstDash val="solid"/>
          </a:ln>
        </p:spPr>
      </p:sp>
      <p:sp>
        <p:nvSpPr>
          <p:cNvPr id="33" name="Text 31"/>
          <p:cNvSpPr txBox="1"/>
          <p:nvPr/>
        </p:nvSpPr>
        <p:spPr>
          <a:xfrm>
            <a:off x="4526280" y="4224528"/>
            <a:ext cx="3200400" cy="320040"/>
          </a:xfrm>
          <a:prstGeom prst="rect">
            <a:avLst/>
          </a:prstGeom>
          <a:noFill/>
          <a:ln/>
        </p:spPr>
        <p:txBody>
          <a:bodyPr wrap="square" lIns="0" tIns="0" rIns="0" bIns="0" rtlCol="0" anchor="t"/>
          <a:lstStyle/>
          <a:p>
            <a:pPr indent="0" marL="0">
              <a:buNone/>
            </a:pPr>
            <a:r>
              <a:rPr lang="en-US" sz="1400" b="1" dirty="0">
                <a:solidFill>
                  <a:schemeClr val="tx2"/>
                </a:solidFill>
              </a:rPr>
              <a:t>Contributors &amp; Resolution Time</a:t>
            </a:r>
            <a:endParaRPr lang="en-US" sz="1400" dirty="0"/>
          </a:p>
        </p:txBody>
      </p:sp>
      <p:sp>
        <p:nvSpPr>
          <p:cNvPr id="34" name="Text 32"/>
          <p:cNvSpPr txBox="1"/>
          <p:nvPr/>
        </p:nvSpPr>
        <p:spPr>
          <a:xfrm>
            <a:off x="4526280" y="4590288"/>
            <a:ext cx="3200400" cy="731520"/>
          </a:xfrm>
          <a:prstGeom prst="rect">
            <a:avLst/>
          </a:prstGeom>
          <a:noFill/>
          <a:ln/>
        </p:spPr>
        <p:txBody>
          <a:bodyPr wrap="square" lIns="0" tIns="0" rIns="0" bIns="0" rtlCol="0" anchor="t"/>
          <a:lstStyle/>
          <a:p>
            <a:pPr marL="342900" indent="-342900">
              <a:buSzPct val="100000"/>
              <a:buChar char="•"/>
            </a:pPr>
            <a:r>
              <a:rPr lang="en-US" sz="1250" dirty="0">
                <a:solidFill>
                  <a:schemeClr val="tx1"/>
                </a:solidFill>
              </a:rPr>
              <a:t>Contributor count and resolution time</a:t>
            </a:r>
            <a:endParaRPr lang="en-US" sz="1250" dirty="0"/>
          </a:p>
        </p:txBody>
      </p:sp>
      <p:sp>
        <p:nvSpPr>
          <p:cNvPr id="35" name="card Monthly Ticket Analysis"/>
          <p:cNvSpPr/>
          <p:nvPr/>
        </p:nvSpPr>
        <p:spPr>
          <a:xfrm>
            <a:off x="8046720" y="4114800"/>
            <a:ext cx="3566160" cy="1280160"/>
          </a:xfrm>
          <a:prstGeom prst="rect">
            <a:avLst/>
          </a:prstGeom>
          <a:solidFill>
            <a:schemeClr val="bg2"/>
          </a:solidFill>
          <a:ln w="12700">
            <a:solidFill>
              <a:schemeClr val="bg2"/>
            </a:solidFill>
            <a:prstDash val="solid"/>
          </a:ln>
        </p:spPr>
      </p:sp>
      <p:sp>
        <p:nvSpPr>
          <p:cNvPr id="36" name="Shape 34"/>
          <p:cNvSpPr/>
          <p:nvPr/>
        </p:nvSpPr>
        <p:spPr>
          <a:xfrm>
            <a:off x="8046720" y="4114800"/>
            <a:ext cx="54864" cy="1280160"/>
          </a:xfrm>
          <a:prstGeom prst="rect">
            <a:avLst/>
          </a:prstGeom>
          <a:solidFill>
            <a:schemeClr val="accent1"/>
          </a:solidFill>
          <a:ln w="12700">
            <a:solidFill>
              <a:schemeClr val="accent1"/>
            </a:solidFill>
            <a:prstDash val="solid"/>
          </a:ln>
        </p:spPr>
      </p:sp>
      <p:sp>
        <p:nvSpPr>
          <p:cNvPr id="37" name="Text 35"/>
          <p:cNvSpPr txBox="1"/>
          <p:nvPr/>
        </p:nvSpPr>
        <p:spPr>
          <a:xfrm>
            <a:off x="8275320" y="4224528"/>
            <a:ext cx="3200400" cy="320040"/>
          </a:xfrm>
          <a:prstGeom prst="rect">
            <a:avLst/>
          </a:prstGeom>
          <a:noFill/>
          <a:ln/>
        </p:spPr>
        <p:txBody>
          <a:bodyPr wrap="square" lIns="0" tIns="0" rIns="0" bIns="0" rtlCol="0" anchor="t"/>
          <a:lstStyle/>
          <a:p>
            <a:pPr indent="0" marL="0">
              <a:buNone/>
            </a:pPr>
            <a:r>
              <a:rPr lang="en-US" sz="1400" b="1" dirty="0">
                <a:solidFill>
                  <a:schemeClr val="tx2"/>
                </a:solidFill>
              </a:rPr>
              <a:t>Monthly Ticket Analysis</a:t>
            </a:r>
            <a:endParaRPr lang="en-US" sz="1400" dirty="0"/>
          </a:p>
        </p:txBody>
      </p:sp>
      <p:sp>
        <p:nvSpPr>
          <p:cNvPr id="38" name="Text 36"/>
          <p:cNvSpPr txBox="1"/>
          <p:nvPr/>
        </p:nvSpPr>
        <p:spPr>
          <a:xfrm>
            <a:off x="8275320" y="4590288"/>
            <a:ext cx="3200400" cy="731520"/>
          </a:xfrm>
          <a:prstGeom prst="rect">
            <a:avLst/>
          </a:prstGeom>
          <a:noFill/>
          <a:ln/>
        </p:spPr>
        <p:txBody>
          <a:bodyPr wrap="square" lIns="0" tIns="0" rIns="0" bIns="0" rtlCol="0" anchor="t"/>
          <a:lstStyle/>
          <a:p>
            <a:pPr marL="342900" indent="-342900">
              <a:buSzPct val="100000"/>
              <a:buChar char="•"/>
            </a:pPr>
            <a:r>
              <a:rPr lang="en-US" sz="1250" dirty="0">
                <a:solidFill>
                  <a:schemeClr val="tx1"/>
                </a:solidFill>
              </a:rPr>
              <a:t>Ticket volume grouped by month</a:t>
            </a:r>
            <a:endParaRPr lang="en-US" sz="12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Data Visualization</a:t>
            </a:r>
            <a:endParaRPr lang="en-US" sz="2800" dirty="0"/>
          </a:p>
        </p:txBody>
      </p:sp>
      <p:sp>
        <p:nvSpPr>
          <p:cNvPr id="3" name="Shape 1"/>
          <p:cNvSpPr/>
          <p:nvPr/>
        </p:nvSpPr>
        <p:spPr>
          <a:xfrm>
            <a:off x="548640" y="1188720"/>
            <a:ext cx="5486400" cy="1645920"/>
          </a:xfrm>
          <a:prstGeom prst="rect">
            <a:avLst/>
          </a:prstGeom>
          <a:solidFill>
            <a:schemeClr val="bg2"/>
          </a:solidFill>
          <a:ln w="12700">
            <a:solidFill>
              <a:schemeClr val="bg2"/>
            </a:solidFill>
            <a:prstDash val="solid"/>
          </a:ln>
        </p:spPr>
      </p:sp>
      <p:pic>
        <p:nvPicPr>
          <p:cNvPr id="4" name="Image 0" descr="Tickets by Priority">    </p:cNvPr>
          <p:cNvPicPr>
            <a:picLocks noChangeAspect="1"/>
          </p:cNvPicPr>
          <p:nvPr/>
        </p:nvPicPr>
        <p:blipFill>
          <a:blip r:embed="rId1"/>
          <a:stretch>
            <a:fillRect/>
          </a:stretch>
        </p:blipFill>
        <p:spPr>
          <a:xfrm>
            <a:off x="640080" y="1325880"/>
            <a:ext cx="2194560" cy="1371600"/>
          </a:xfrm>
          <a:prstGeom prst="rect">
            <a:avLst/>
          </a:prstGeom>
        </p:spPr>
      </p:pic>
      <p:sp>
        <p:nvSpPr>
          <p:cNvPr id="5" name="Text 2"/>
          <p:cNvSpPr txBox="1"/>
          <p:nvPr/>
        </p:nvSpPr>
        <p:spPr>
          <a:xfrm>
            <a:off x="2971800" y="1261872"/>
            <a:ext cx="2971800" cy="256032"/>
          </a:xfrm>
          <a:prstGeom prst="rect">
            <a:avLst/>
          </a:prstGeom>
          <a:noFill/>
          <a:ln/>
        </p:spPr>
        <p:txBody>
          <a:bodyPr wrap="square" lIns="0" tIns="0" rIns="0" bIns="0" rtlCol="0" anchor="t"/>
          <a:lstStyle/>
          <a:p>
            <a:pPr indent="0" marL="0">
              <a:buNone/>
            </a:pPr>
            <a:r>
              <a:rPr lang="en-US" sz="1250" b="1" dirty="0">
                <a:solidFill>
                  <a:schemeClr val="tx2"/>
                </a:solidFill>
              </a:rPr>
              <a:t>Tickets by Priority</a:t>
            </a:r>
            <a:endParaRPr lang="en-US" sz="1250" dirty="0"/>
          </a:p>
        </p:txBody>
      </p:sp>
      <p:sp>
        <p:nvSpPr>
          <p:cNvPr id="6" name="Text 3"/>
          <p:cNvSpPr txBox="1"/>
          <p:nvPr/>
        </p:nvSpPr>
        <p:spPr>
          <a:xfrm>
            <a:off x="2971800" y="1554480"/>
            <a:ext cx="2971800" cy="1234440"/>
          </a:xfrm>
          <a:prstGeom prst="rect">
            <a:avLst/>
          </a:prstGeom>
          <a:noFill/>
          <a:ln/>
        </p:spPr>
        <p:txBody>
          <a:bodyPr wrap="square" lIns="0" tIns="0" rIns="0" bIns="0" rtlCol="0" anchor="t"/>
          <a:lstStyle/>
          <a:p>
            <a:pPr indent="0" marL="0">
              <a:spcAft>
                <a:spcPts val="200"/>
              </a:spcAft>
              <a:buNone/>
            </a:pPr>
            <a:r>
              <a:rPr lang="en-US" sz="950" b="1" dirty="0">
                <a:solidFill>
                  <a:schemeClr val="accent1"/>
                </a:solidFill>
              </a:rPr>
              <a:t>Purpose: </a:t>
            </a:r>
            <a:pPr indent="0" marL="0">
              <a:spcAft>
                <a:spcPts val="200"/>
              </a:spcAft>
              <a:buNone/>
            </a:pPr>
            <a:r>
              <a:rPr lang="en-US" sz="950" dirty="0">
                <a:solidFill>
                  <a:schemeClr val="tx1"/>
                </a:solidFill>
              </a:rPr>
              <a:t>Show ticket distribution across priorities.</a:t>
            </a:r>
            <a:endParaRPr lang="en-US" sz="950" dirty="0"/>
          </a:p>
          <a:p>
            <a:pPr indent="0" marL="0">
              <a:spcAft>
                <a:spcPts val="200"/>
              </a:spcAft>
              <a:buNone/>
            </a:pPr>
            <a:r>
              <a:rPr lang="en-US" sz="950" b="1" dirty="0">
                <a:solidFill>
                  <a:schemeClr val="accent1"/>
                </a:solidFill>
              </a:rPr>
              <a:t>Shows: </a:t>
            </a:r>
            <a:pPr indent="0" marL="0">
              <a:spcAft>
                <a:spcPts val="200"/>
              </a:spcAft>
              <a:buNone/>
            </a:pPr>
            <a:r>
              <a:rPr lang="en-US" sz="950" dirty="0">
                <a:solidFill>
                  <a:schemeClr val="tx1"/>
                </a:solidFill>
              </a:rPr>
              <a:t>Bar chart of ticket counts per priority.</a:t>
            </a:r>
            <a:endParaRPr lang="en-US" sz="950" dirty="0"/>
          </a:p>
          <a:p>
            <a:pPr indent="0" marL="0">
              <a:spcAft>
                <a:spcPts val="200"/>
              </a:spcAft>
              <a:buNone/>
            </a:pPr>
            <a:r>
              <a:rPr lang="en-US" sz="950" b="1" dirty="0">
                <a:solidFill>
                  <a:schemeClr val="accent3"/>
                </a:solidFill>
              </a:rPr>
              <a:t>Insight: </a:t>
            </a:r>
            <a:pPr indent="0" marL="0">
              <a:spcAft>
                <a:spcPts val="200"/>
              </a:spcAft>
              <a:buNone/>
            </a:pPr>
            <a:r>
              <a:rPr lang="en-US" sz="950" dirty="0">
                <a:solidFill>
                  <a:schemeClr val="tx1"/>
                </a:solidFill>
              </a:rPr>
              <a:t>'unknown' is the largest group (33,965), then Medium (24,788).</a:t>
            </a:r>
            <a:endParaRPr lang="en-US" sz="950" dirty="0"/>
          </a:p>
        </p:txBody>
      </p:sp>
      <p:sp>
        <p:nvSpPr>
          <p:cNvPr id="7" name="Shape 4"/>
          <p:cNvSpPr/>
          <p:nvPr/>
        </p:nvSpPr>
        <p:spPr>
          <a:xfrm>
            <a:off x="6172200" y="1188720"/>
            <a:ext cx="5486400" cy="1645920"/>
          </a:xfrm>
          <a:prstGeom prst="rect">
            <a:avLst/>
          </a:prstGeom>
          <a:solidFill>
            <a:schemeClr val="bg2"/>
          </a:solidFill>
          <a:ln w="12700">
            <a:solidFill>
              <a:schemeClr val="bg2"/>
            </a:solidFill>
            <a:prstDash val="solid"/>
          </a:ln>
        </p:spPr>
      </p:sp>
      <p:pic>
        <p:nvPicPr>
          <p:cNvPr id="8" name="Image 1" descr="Tickets by Issue Type">    </p:cNvPr>
          <p:cNvPicPr>
            <a:picLocks noChangeAspect="1"/>
          </p:cNvPicPr>
          <p:nvPr/>
        </p:nvPicPr>
        <p:blipFill>
          <a:blip r:embed="rId2"/>
          <a:stretch>
            <a:fillRect/>
          </a:stretch>
        </p:blipFill>
        <p:spPr>
          <a:xfrm>
            <a:off x="6263640" y="1325880"/>
            <a:ext cx="2194560" cy="1371600"/>
          </a:xfrm>
          <a:prstGeom prst="rect">
            <a:avLst/>
          </a:prstGeom>
        </p:spPr>
      </p:pic>
      <p:sp>
        <p:nvSpPr>
          <p:cNvPr id="9" name="Text 5"/>
          <p:cNvSpPr txBox="1"/>
          <p:nvPr/>
        </p:nvSpPr>
        <p:spPr>
          <a:xfrm>
            <a:off x="8595360" y="1261872"/>
            <a:ext cx="2971800" cy="256032"/>
          </a:xfrm>
          <a:prstGeom prst="rect">
            <a:avLst/>
          </a:prstGeom>
          <a:noFill/>
          <a:ln/>
        </p:spPr>
        <p:txBody>
          <a:bodyPr wrap="square" lIns="0" tIns="0" rIns="0" bIns="0" rtlCol="0" anchor="t"/>
          <a:lstStyle/>
          <a:p>
            <a:pPr indent="0" marL="0">
              <a:buNone/>
            </a:pPr>
            <a:r>
              <a:rPr lang="en-US" sz="1250" b="1" dirty="0">
                <a:solidFill>
                  <a:schemeClr val="tx2"/>
                </a:solidFill>
              </a:rPr>
              <a:t>Tickets by Issue Type</a:t>
            </a:r>
            <a:endParaRPr lang="en-US" sz="1250" dirty="0"/>
          </a:p>
        </p:txBody>
      </p:sp>
      <p:sp>
        <p:nvSpPr>
          <p:cNvPr id="10" name="Text 6"/>
          <p:cNvSpPr txBox="1"/>
          <p:nvPr/>
        </p:nvSpPr>
        <p:spPr>
          <a:xfrm>
            <a:off x="8595360" y="1554480"/>
            <a:ext cx="2971800" cy="1234440"/>
          </a:xfrm>
          <a:prstGeom prst="rect">
            <a:avLst/>
          </a:prstGeom>
          <a:noFill/>
          <a:ln/>
        </p:spPr>
        <p:txBody>
          <a:bodyPr wrap="square" lIns="0" tIns="0" rIns="0" bIns="0" rtlCol="0" anchor="t"/>
          <a:lstStyle/>
          <a:p>
            <a:pPr indent="0" marL="0">
              <a:spcAft>
                <a:spcPts val="200"/>
              </a:spcAft>
              <a:buNone/>
            </a:pPr>
            <a:r>
              <a:rPr lang="en-US" sz="950" b="1" dirty="0">
                <a:solidFill>
                  <a:schemeClr val="accent1"/>
                </a:solidFill>
              </a:rPr>
              <a:t>Purpose: </a:t>
            </a:r>
            <a:pPr indent="0" marL="0">
              <a:spcAft>
                <a:spcPts val="200"/>
              </a:spcAft>
              <a:buNone/>
            </a:pPr>
            <a:r>
              <a:rPr lang="en-US" sz="950" dirty="0">
                <a:solidFill>
                  <a:schemeClr val="tx1"/>
                </a:solidFill>
              </a:rPr>
              <a:t>Show ticket distribution across issue types.</a:t>
            </a:r>
            <a:endParaRPr lang="en-US" sz="950" dirty="0"/>
          </a:p>
          <a:p>
            <a:pPr indent="0" marL="0">
              <a:spcAft>
                <a:spcPts val="200"/>
              </a:spcAft>
              <a:buNone/>
            </a:pPr>
            <a:r>
              <a:rPr lang="en-US" sz="950" b="1" dirty="0">
                <a:solidFill>
                  <a:schemeClr val="accent1"/>
                </a:solidFill>
              </a:rPr>
              <a:t>Shows: </a:t>
            </a:r>
            <a:pPr indent="0" marL="0">
              <a:spcAft>
                <a:spcPts val="200"/>
              </a:spcAft>
              <a:buNone/>
            </a:pPr>
            <a:r>
              <a:rPr lang="en-US" sz="950" dirty="0">
                <a:solidFill>
                  <a:schemeClr val="tx1"/>
                </a:solidFill>
              </a:rPr>
              <a:t>Bar chart of ticket counts per issue type.</a:t>
            </a:r>
            <a:endParaRPr lang="en-US" sz="950" dirty="0"/>
          </a:p>
          <a:p>
            <a:pPr indent="0" marL="0">
              <a:spcAft>
                <a:spcPts val="200"/>
              </a:spcAft>
              <a:buNone/>
            </a:pPr>
            <a:r>
              <a:rPr lang="en-US" sz="950" b="1" dirty="0">
                <a:solidFill>
                  <a:schemeClr val="accent3"/>
                </a:solidFill>
              </a:rPr>
              <a:t>Insight: </a:t>
            </a:r>
            <a:pPr indent="0" marL="0">
              <a:spcAft>
                <a:spcPts val="200"/>
              </a:spcAft>
              <a:buNone/>
            </a:pPr>
            <a:r>
              <a:rPr lang="en-US" sz="950" dirty="0">
                <a:solidFill>
                  <a:schemeClr val="tx1"/>
                </a:solidFill>
              </a:rPr>
              <a:t>"Ticket" dominates (45,275); Bug is smallest (53).</a:t>
            </a:r>
            <a:endParaRPr lang="en-US" sz="950" dirty="0"/>
          </a:p>
        </p:txBody>
      </p:sp>
      <p:sp>
        <p:nvSpPr>
          <p:cNvPr id="11" name="Shape 7"/>
          <p:cNvSpPr/>
          <p:nvPr/>
        </p:nvSpPr>
        <p:spPr>
          <a:xfrm>
            <a:off x="548640" y="2926080"/>
            <a:ext cx="5486400" cy="1645920"/>
          </a:xfrm>
          <a:prstGeom prst="rect">
            <a:avLst/>
          </a:prstGeom>
          <a:solidFill>
            <a:schemeClr val="bg2"/>
          </a:solidFill>
          <a:ln w="12700">
            <a:solidFill>
              <a:schemeClr val="bg2"/>
            </a:solidFill>
            <a:prstDash val="solid"/>
          </a:ln>
        </p:spPr>
      </p:sp>
      <p:pic>
        <p:nvPicPr>
          <p:cNvPr id="12" name="Image 2" descr="Resolution Time Distribution">    </p:cNvPr>
          <p:cNvPicPr>
            <a:picLocks noChangeAspect="1"/>
          </p:cNvPicPr>
          <p:nvPr/>
        </p:nvPicPr>
        <p:blipFill>
          <a:blip r:embed="rId3"/>
          <a:stretch>
            <a:fillRect/>
          </a:stretch>
        </p:blipFill>
        <p:spPr>
          <a:xfrm>
            <a:off x="640080" y="3063240"/>
            <a:ext cx="2194560" cy="1371600"/>
          </a:xfrm>
          <a:prstGeom prst="rect">
            <a:avLst/>
          </a:prstGeom>
        </p:spPr>
      </p:pic>
      <p:sp>
        <p:nvSpPr>
          <p:cNvPr id="13" name="Text 8"/>
          <p:cNvSpPr txBox="1"/>
          <p:nvPr/>
        </p:nvSpPr>
        <p:spPr>
          <a:xfrm>
            <a:off x="2971800" y="2999232"/>
            <a:ext cx="2971800" cy="256032"/>
          </a:xfrm>
          <a:prstGeom prst="rect">
            <a:avLst/>
          </a:prstGeom>
          <a:noFill/>
          <a:ln/>
        </p:spPr>
        <p:txBody>
          <a:bodyPr wrap="square" lIns="0" tIns="0" rIns="0" bIns="0" rtlCol="0" anchor="t"/>
          <a:lstStyle/>
          <a:p>
            <a:pPr indent="0" marL="0">
              <a:buNone/>
            </a:pPr>
            <a:r>
              <a:rPr lang="en-US" sz="1250" b="1" dirty="0">
                <a:solidFill>
                  <a:schemeClr val="tx2"/>
                </a:solidFill>
              </a:rPr>
              <a:t>Resolution Time Distribution</a:t>
            </a:r>
            <a:endParaRPr lang="en-US" sz="1250" dirty="0"/>
          </a:p>
        </p:txBody>
      </p:sp>
      <p:sp>
        <p:nvSpPr>
          <p:cNvPr id="14" name="Text 9"/>
          <p:cNvSpPr txBox="1"/>
          <p:nvPr/>
        </p:nvSpPr>
        <p:spPr>
          <a:xfrm>
            <a:off x="2971800" y="3291840"/>
            <a:ext cx="2971800" cy="1234440"/>
          </a:xfrm>
          <a:prstGeom prst="rect">
            <a:avLst/>
          </a:prstGeom>
          <a:noFill/>
          <a:ln/>
        </p:spPr>
        <p:txBody>
          <a:bodyPr wrap="square" lIns="0" tIns="0" rIns="0" bIns="0" rtlCol="0" anchor="t"/>
          <a:lstStyle/>
          <a:p>
            <a:pPr indent="0" marL="0">
              <a:spcAft>
                <a:spcPts val="200"/>
              </a:spcAft>
              <a:buNone/>
            </a:pPr>
            <a:r>
              <a:rPr lang="en-US" sz="950" b="1" dirty="0">
                <a:solidFill>
                  <a:schemeClr val="accent1"/>
                </a:solidFill>
              </a:rPr>
              <a:t>Purpose: </a:t>
            </a:r>
            <a:pPr indent="0" marL="0">
              <a:spcAft>
                <a:spcPts val="200"/>
              </a:spcAft>
              <a:buNone/>
            </a:pPr>
            <a:r>
              <a:rPr lang="en-US" sz="950" dirty="0">
                <a:solidFill>
                  <a:schemeClr val="tx1"/>
                </a:solidFill>
              </a:rPr>
              <a:t>Show how resolution time is distributed.</a:t>
            </a:r>
            <a:endParaRPr lang="en-US" sz="950" dirty="0"/>
          </a:p>
          <a:p>
            <a:pPr indent="0" marL="0">
              <a:spcAft>
                <a:spcPts val="200"/>
              </a:spcAft>
              <a:buNone/>
            </a:pPr>
            <a:r>
              <a:rPr lang="en-US" sz="950" b="1" dirty="0">
                <a:solidFill>
                  <a:schemeClr val="accent1"/>
                </a:solidFill>
              </a:rPr>
              <a:t>Shows: </a:t>
            </a:r>
            <a:pPr indent="0" marL="0">
              <a:spcAft>
                <a:spcPts val="200"/>
              </a:spcAft>
              <a:buNone/>
            </a:pPr>
            <a:r>
              <a:rPr lang="en-US" sz="950" dirty="0">
                <a:solidFill>
                  <a:schemeClr val="tx1"/>
                </a:solidFill>
              </a:rPr>
              <a:t>Histogram of resolution time in hours.</a:t>
            </a:r>
            <a:endParaRPr lang="en-US" sz="950" dirty="0"/>
          </a:p>
          <a:p>
            <a:pPr indent="0" marL="0">
              <a:spcAft>
                <a:spcPts val="200"/>
              </a:spcAft>
              <a:buNone/>
            </a:pPr>
            <a:r>
              <a:rPr lang="en-US" sz="950" b="1" dirty="0">
                <a:solidFill>
                  <a:schemeClr val="accent3"/>
                </a:solidFill>
              </a:rPr>
              <a:t>Insight: </a:t>
            </a:r>
            <a:pPr indent="0" marL="0">
              <a:spcAft>
                <a:spcPts val="200"/>
              </a:spcAft>
              <a:buNone/>
            </a:pPr>
            <a:r>
              <a:rPr lang="en-US" sz="950" dirty="0">
                <a:solidFill>
                  <a:schemeClr val="tx1"/>
                </a:solidFill>
              </a:rPr>
              <a:t>Most tickets fall in the lowest bin; a long tail reaches ~99,000 h.</a:t>
            </a:r>
            <a:endParaRPr lang="en-US" sz="950" dirty="0"/>
          </a:p>
        </p:txBody>
      </p:sp>
      <p:sp>
        <p:nvSpPr>
          <p:cNvPr id="15" name="Shape 10"/>
          <p:cNvSpPr/>
          <p:nvPr/>
        </p:nvSpPr>
        <p:spPr>
          <a:xfrm>
            <a:off x="6172200" y="2926080"/>
            <a:ext cx="5486400" cy="1645920"/>
          </a:xfrm>
          <a:prstGeom prst="rect">
            <a:avLst/>
          </a:prstGeom>
          <a:solidFill>
            <a:schemeClr val="bg2"/>
          </a:solidFill>
          <a:ln w="12700">
            <a:solidFill>
              <a:schemeClr val="bg2"/>
            </a:solidFill>
            <a:prstDash val="solid"/>
          </a:ln>
        </p:spPr>
      </p:sp>
      <p:pic>
        <p:nvPicPr>
          <p:cNvPr id="16" name="Image 3" descr="Resolution Time by Priority">    </p:cNvPr>
          <p:cNvPicPr>
            <a:picLocks noChangeAspect="1"/>
          </p:cNvPicPr>
          <p:nvPr/>
        </p:nvPicPr>
        <p:blipFill>
          <a:blip r:embed="rId4"/>
          <a:stretch>
            <a:fillRect/>
          </a:stretch>
        </p:blipFill>
        <p:spPr>
          <a:xfrm>
            <a:off x="6446749" y="3063240"/>
            <a:ext cx="1828343" cy="1371600"/>
          </a:xfrm>
          <a:prstGeom prst="rect">
            <a:avLst/>
          </a:prstGeom>
        </p:spPr>
      </p:pic>
      <p:sp>
        <p:nvSpPr>
          <p:cNvPr id="17" name="Text 11"/>
          <p:cNvSpPr txBox="1"/>
          <p:nvPr/>
        </p:nvSpPr>
        <p:spPr>
          <a:xfrm>
            <a:off x="8595360" y="2999232"/>
            <a:ext cx="2971800" cy="256032"/>
          </a:xfrm>
          <a:prstGeom prst="rect">
            <a:avLst/>
          </a:prstGeom>
          <a:noFill/>
          <a:ln/>
        </p:spPr>
        <p:txBody>
          <a:bodyPr wrap="square" lIns="0" tIns="0" rIns="0" bIns="0" rtlCol="0" anchor="t"/>
          <a:lstStyle/>
          <a:p>
            <a:pPr indent="0" marL="0">
              <a:buNone/>
            </a:pPr>
            <a:r>
              <a:rPr lang="en-US" sz="1250" b="1" dirty="0">
                <a:solidFill>
                  <a:schemeClr val="tx2"/>
                </a:solidFill>
              </a:rPr>
              <a:t>Resolution Time by Priority</a:t>
            </a:r>
            <a:endParaRPr lang="en-US" sz="1250" dirty="0"/>
          </a:p>
        </p:txBody>
      </p:sp>
      <p:sp>
        <p:nvSpPr>
          <p:cNvPr id="18" name="Text 12"/>
          <p:cNvSpPr txBox="1"/>
          <p:nvPr/>
        </p:nvSpPr>
        <p:spPr>
          <a:xfrm>
            <a:off x="8595360" y="3291840"/>
            <a:ext cx="2971800" cy="1234440"/>
          </a:xfrm>
          <a:prstGeom prst="rect">
            <a:avLst/>
          </a:prstGeom>
          <a:noFill/>
          <a:ln/>
        </p:spPr>
        <p:txBody>
          <a:bodyPr wrap="square" lIns="0" tIns="0" rIns="0" bIns="0" rtlCol="0" anchor="t"/>
          <a:lstStyle/>
          <a:p>
            <a:pPr indent="0" marL="0">
              <a:spcAft>
                <a:spcPts val="200"/>
              </a:spcAft>
              <a:buNone/>
            </a:pPr>
            <a:r>
              <a:rPr lang="en-US" sz="950" b="1" dirty="0">
                <a:solidFill>
                  <a:schemeClr val="accent1"/>
                </a:solidFill>
              </a:rPr>
              <a:t>Purpose: </a:t>
            </a:r>
            <a:pPr indent="0" marL="0">
              <a:spcAft>
                <a:spcPts val="200"/>
              </a:spcAft>
              <a:buNone/>
            </a:pPr>
            <a:r>
              <a:rPr lang="en-US" sz="950" dirty="0">
                <a:solidFill>
                  <a:schemeClr val="tx1"/>
                </a:solidFill>
              </a:rPr>
              <a:t>Compare resolution time across priorities.</a:t>
            </a:r>
            <a:endParaRPr lang="en-US" sz="950" dirty="0"/>
          </a:p>
          <a:p>
            <a:pPr indent="0" marL="0">
              <a:spcAft>
                <a:spcPts val="200"/>
              </a:spcAft>
              <a:buNone/>
            </a:pPr>
            <a:r>
              <a:rPr lang="en-US" sz="950" b="1" dirty="0">
                <a:solidFill>
                  <a:schemeClr val="accent1"/>
                </a:solidFill>
              </a:rPr>
              <a:t>Shows: </a:t>
            </a:r>
            <a:pPr indent="0" marL="0">
              <a:spcAft>
                <a:spcPts val="200"/>
              </a:spcAft>
              <a:buNone/>
            </a:pPr>
            <a:r>
              <a:rPr lang="en-US" sz="950" dirty="0">
                <a:solidFill>
                  <a:schemeClr val="tx1"/>
                </a:solidFill>
              </a:rPr>
              <a:t>Box plot of resolution time per priority.</a:t>
            </a:r>
            <a:endParaRPr lang="en-US" sz="950" dirty="0"/>
          </a:p>
          <a:p>
            <a:pPr indent="0" marL="0">
              <a:spcAft>
                <a:spcPts val="200"/>
              </a:spcAft>
              <a:buNone/>
            </a:pPr>
            <a:r>
              <a:rPr lang="en-US" sz="950" b="1" dirty="0">
                <a:solidFill>
                  <a:schemeClr val="accent3"/>
                </a:solidFill>
              </a:rPr>
              <a:t>Insight: </a:t>
            </a:r>
            <a:pPr indent="0" marL="0">
              <a:spcAft>
                <a:spcPts val="200"/>
              </a:spcAft>
              <a:buNone/>
            </a:pPr>
            <a:r>
              <a:rPr lang="en-US" sz="950" dirty="0">
                <a:solidFill>
                  <a:schemeClr val="tx1"/>
                </a:solidFill>
              </a:rPr>
              <a:t>'unknown' has a far higher median (34,149 h) than other priorities (91–238 h).</a:t>
            </a:r>
            <a:endParaRPr lang="en-US" sz="950" dirty="0"/>
          </a:p>
        </p:txBody>
      </p:sp>
      <p:sp>
        <p:nvSpPr>
          <p:cNvPr id="19" name="Shape 13"/>
          <p:cNvSpPr/>
          <p:nvPr/>
        </p:nvSpPr>
        <p:spPr>
          <a:xfrm>
            <a:off x="548640" y="4663440"/>
            <a:ext cx="5486400" cy="1645920"/>
          </a:xfrm>
          <a:prstGeom prst="rect">
            <a:avLst/>
          </a:prstGeom>
          <a:solidFill>
            <a:schemeClr val="bg2"/>
          </a:solidFill>
          <a:ln w="12700">
            <a:solidFill>
              <a:schemeClr val="bg2"/>
            </a:solidFill>
            <a:prstDash val="solid"/>
          </a:ln>
        </p:spPr>
      </p:sp>
      <p:pic>
        <p:nvPicPr>
          <p:cNvPr id="20" name="Image 4" descr="Monthly Ticket Trend">    </p:cNvPr>
          <p:cNvPicPr>
            <a:picLocks noChangeAspect="1"/>
          </p:cNvPicPr>
          <p:nvPr/>
        </p:nvPicPr>
        <p:blipFill>
          <a:blip r:embed="rId5"/>
          <a:stretch>
            <a:fillRect/>
          </a:stretch>
        </p:blipFill>
        <p:spPr>
          <a:xfrm>
            <a:off x="640080" y="4800600"/>
            <a:ext cx="2194560" cy="1371600"/>
          </a:xfrm>
          <a:prstGeom prst="rect">
            <a:avLst/>
          </a:prstGeom>
        </p:spPr>
      </p:pic>
      <p:sp>
        <p:nvSpPr>
          <p:cNvPr id="21" name="Text 14"/>
          <p:cNvSpPr txBox="1"/>
          <p:nvPr/>
        </p:nvSpPr>
        <p:spPr>
          <a:xfrm>
            <a:off x="2971800" y="4736592"/>
            <a:ext cx="2971800" cy="256032"/>
          </a:xfrm>
          <a:prstGeom prst="rect">
            <a:avLst/>
          </a:prstGeom>
          <a:noFill/>
          <a:ln/>
        </p:spPr>
        <p:txBody>
          <a:bodyPr wrap="square" lIns="0" tIns="0" rIns="0" bIns="0" rtlCol="0" anchor="t"/>
          <a:lstStyle/>
          <a:p>
            <a:pPr indent="0" marL="0">
              <a:buNone/>
            </a:pPr>
            <a:r>
              <a:rPr lang="en-US" sz="1250" b="1" dirty="0">
                <a:solidFill>
                  <a:schemeClr val="tx2"/>
                </a:solidFill>
              </a:rPr>
              <a:t>Monthly Ticket Trend</a:t>
            </a:r>
            <a:endParaRPr lang="en-US" sz="1250" dirty="0"/>
          </a:p>
        </p:txBody>
      </p:sp>
      <p:sp>
        <p:nvSpPr>
          <p:cNvPr id="22" name="Text 15"/>
          <p:cNvSpPr txBox="1"/>
          <p:nvPr/>
        </p:nvSpPr>
        <p:spPr>
          <a:xfrm>
            <a:off x="2971800" y="5029200"/>
            <a:ext cx="2971800" cy="1234440"/>
          </a:xfrm>
          <a:prstGeom prst="rect">
            <a:avLst/>
          </a:prstGeom>
          <a:noFill/>
          <a:ln/>
        </p:spPr>
        <p:txBody>
          <a:bodyPr wrap="square" lIns="0" tIns="0" rIns="0" bIns="0" rtlCol="0" anchor="t"/>
          <a:lstStyle/>
          <a:p>
            <a:pPr indent="0" marL="0">
              <a:spcAft>
                <a:spcPts val="200"/>
              </a:spcAft>
              <a:buNone/>
            </a:pPr>
            <a:r>
              <a:rPr lang="en-US" sz="950" b="1" dirty="0">
                <a:solidFill>
                  <a:schemeClr val="accent1"/>
                </a:solidFill>
              </a:rPr>
              <a:t>Purpose: </a:t>
            </a:r>
            <a:pPr indent="0" marL="0">
              <a:spcAft>
                <a:spcPts val="200"/>
              </a:spcAft>
              <a:buNone/>
            </a:pPr>
            <a:r>
              <a:rPr lang="en-US" sz="950" dirty="0">
                <a:solidFill>
                  <a:schemeClr val="tx1"/>
                </a:solidFill>
              </a:rPr>
              <a:t>Show ticket volume across months.</a:t>
            </a:r>
            <a:endParaRPr lang="en-US" sz="950" dirty="0"/>
          </a:p>
          <a:p>
            <a:pPr indent="0" marL="0">
              <a:spcAft>
                <a:spcPts val="200"/>
              </a:spcAft>
              <a:buNone/>
            </a:pPr>
            <a:r>
              <a:rPr lang="en-US" sz="950" b="1" dirty="0">
                <a:solidFill>
                  <a:schemeClr val="accent1"/>
                </a:solidFill>
              </a:rPr>
              <a:t>Shows: </a:t>
            </a:r>
            <a:pPr indent="0" marL="0">
              <a:spcAft>
                <a:spcPts val="200"/>
              </a:spcAft>
              <a:buNone/>
            </a:pPr>
            <a:r>
              <a:rPr lang="en-US" sz="950" dirty="0">
                <a:solidFill>
                  <a:schemeClr val="tx1"/>
                </a:solidFill>
              </a:rPr>
              <a:t>Line chart of tickets per month.</a:t>
            </a:r>
            <a:endParaRPr lang="en-US" sz="950" dirty="0"/>
          </a:p>
          <a:p>
            <a:pPr indent="0" marL="0">
              <a:spcAft>
                <a:spcPts val="200"/>
              </a:spcAft>
              <a:buNone/>
            </a:pPr>
            <a:r>
              <a:rPr lang="en-US" sz="950" b="1" dirty="0">
                <a:solidFill>
                  <a:schemeClr val="accent3"/>
                </a:solidFill>
              </a:rPr>
              <a:t>Insight: </a:t>
            </a:r>
            <a:pPr indent="0" marL="0">
              <a:spcAft>
                <a:spcPts val="200"/>
              </a:spcAft>
              <a:buNone/>
            </a:pPr>
            <a:r>
              <a:rPr lang="en-US" sz="950" dirty="0">
                <a:solidFill>
                  <a:schemeClr val="tx1"/>
                </a:solidFill>
              </a:rPr>
              <a:t>Highest in month 1 (6,261); lowest in month 6 (4,889).</a:t>
            </a:r>
            <a:endParaRPr lang="en-US" sz="950" dirty="0"/>
          </a:p>
        </p:txBody>
      </p:sp>
      <p:sp>
        <p:nvSpPr>
          <p:cNvPr id="23" name="Shape 16"/>
          <p:cNvSpPr/>
          <p:nvPr/>
        </p:nvSpPr>
        <p:spPr>
          <a:xfrm>
            <a:off x="6172200" y="4663440"/>
            <a:ext cx="5486400" cy="1645920"/>
          </a:xfrm>
          <a:prstGeom prst="rect">
            <a:avLst/>
          </a:prstGeom>
          <a:solidFill>
            <a:schemeClr val="bg2"/>
          </a:solidFill>
          <a:ln w="12700">
            <a:solidFill>
              <a:schemeClr val="bg2"/>
            </a:solidFill>
            <a:prstDash val="solid"/>
          </a:ln>
        </p:spPr>
      </p:sp>
      <p:pic>
        <p:nvPicPr>
          <p:cNvPr id="24" name="Image 5" descr="Comments vs Resolution Time">    </p:cNvPr>
          <p:cNvPicPr>
            <a:picLocks noChangeAspect="1"/>
          </p:cNvPicPr>
          <p:nvPr/>
        </p:nvPicPr>
        <p:blipFill>
          <a:blip r:embed="rId6"/>
          <a:stretch>
            <a:fillRect/>
          </a:stretch>
        </p:blipFill>
        <p:spPr>
          <a:xfrm>
            <a:off x="6263640" y="4800600"/>
            <a:ext cx="2194560" cy="1371600"/>
          </a:xfrm>
          <a:prstGeom prst="rect">
            <a:avLst/>
          </a:prstGeom>
        </p:spPr>
      </p:pic>
      <p:sp>
        <p:nvSpPr>
          <p:cNvPr id="25" name="Text 17"/>
          <p:cNvSpPr txBox="1"/>
          <p:nvPr/>
        </p:nvSpPr>
        <p:spPr>
          <a:xfrm>
            <a:off x="8595360" y="4736592"/>
            <a:ext cx="2971800" cy="256032"/>
          </a:xfrm>
          <a:prstGeom prst="rect">
            <a:avLst/>
          </a:prstGeom>
          <a:noFill/>
          <a:ln/>
        </p:spPr>
        <p:txBody>
          <a:bodyPr wrap="square" lIns="0" tIns="0" rIns="0" bIns="0" rtlCol="0" anchor="t"/>
          <a:lstStyle/>
          <a:p>
            <a:pPr indent="0" marL="0">
              <a:buNone/>
            </a:pPr>
            <a:r>
              <a:rPr lang="en-US" sz="1250" b="1" dirty="0">
                <a:solidFill>
                  <a:schemeClr val="tx2"/>
                </a:solidFill>
              </a:rPr>
              <a:t>Comments vs Resolution Time</a:t>
            </a:r>
            <a:endParaRPr lang="en-US" sz="1250" dirty="0"/>
          </a:p>
        </p:txBody>
      </p:sp>
      <p:sp>
        <p:nvSpPr>
          <p:cNvPr id="26" name="Text 18"/>
          <p:cNvSpPr txBox="1"/>
          <p:nvPr/>
        </p:nvSpPr>
        <p:spPr>
          <a:xfrm>
            <a:off x="8595360" y="5029200"/>
            <a:ext cx="2971800" cy="1234440"/>
          </a:xfrm>
          <a:prstGeom prst="rect">
            <a:avLst/>
          </a:prstGeom>
          <a:noFill/>
          <a:ln/>
        </p:spPr>
        <p:txBody>
          <a:bodyPr wrap="square" lIns="0" tIns="0" rIns="0" bIns="0" rtlCol="0" anchor="t"/>
          <a:lstStyle/>
          <a:p>
            <a:pPr indent="0" marL="0">
              <a:spcAft>
                <a:spcPts val="200"/>
              </a:spcAft>
              <a:buNone/>
            </a:pPr>
            <a:r>
              <a:rPr lang="en-US" sz="950" b="1" dirty="0">
                <a:solidFill>
                  <a:schemeClr val="accent1"/>
                </a:solidFill>
              </a:rPr>
              <a:t>Purpose: </a:t>
            </a:r>
            <a:pPr indent="0" marL="0">
              <a:spcAft>
                <a:spcPts val="200"/>
              </a:spcAft>
              <a:buNone/>
            </a:pPr>
            <a:r>
              <a:rPr lang="en-US" sz="950" dirty="0">
                <a:solidFill>
                  <a:schemeClr val="tx1"/>
                </a:solidFill>
              </a:rPr>
              <a:t>Examine comments vs resolution time.</a:t>
            </a:r>
            <a:endParaRPr lang="en-US" sz="950" dirty="0"/>
          </a:p>
          <a:p>
            <a:pPr indent="0" marL="0">
              <a:spcAft>
                <a:spcPts val="200"/>
              </a:spcAft>
              <a:buNone/>
            </a:pPr>
            <a:r>
              <a:rPr lang="en-US" sz="950" b="1" dirty="0">
                <a:solidFill>
                  <a:schemeClr val="accent1"/>
                </a:solidFill>
              </a:rPr>
              <a:t>Shows: </a:t>
            </a:r>
            <a:pPr indent="0" marL="0">
              <a:spcAft>
                <a:spcPts val="200"/>
              </a:spcAft>
              <a:buNone/>
            </a:pPr>
            <a:r>
              <a:rPr lang="en-US" sz="950" dirty="0">
                <a:solidFill>
                  <a:schemeClr val="tx1"/>
                </a:solidFill>
              </a:rPr>
              <a:t>Scatter plot of comments against hours.</a:t>
            </a:r>
            <a:endParaRPr lang="en-US" sz="950" dirty="0"/>
          </a:p>
          <a:p>
            <a:pPr indent="0" marL="0">
              <a:spcAft>
                <a:spcPts val="200"/>
              </a:spcAft>
              <a:buNone/>
            </a:pPr>
            <a:r>
              <a:rPr lang="en-US" sz="950" b="1" dirty="0">
                <a:solidFill>
                  <a:schemeClr val="accent3"/>
                </a:solidFill>
              </a:rPr>
              <a:t>Insight: </a:t>
            </a:r>
            <a:pPr indent="0" marL="0">
              <a:spcAft>
                <a:spcPts val="200"/>
              </a:spcAft>
              <a:buNone/>
            </a:pPr>
            <a:r>
              <a:rPr lang="en-US" sz="950" dirty="0">
                <a:solidFill>
                  <a:schemeClr val="tx1"/>
                </a:solidFill>
              </a:rPr>
              <a:t>No clear linear pattern; most tickets have few comments.</a:t>
            </a:r>
            <a:endParaRPr lang="en-US" sz="9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Key Insights &amp; Recommendations</a:t>
            </a:r>
            <a:endParaRPr lang="en-US" sz="2800" dirty="0"/>
          </a:p>
        </p:txBody>
      </p:sp>
      <p:sp>
        <p:nvSpPr>
          <p:cNvPr id="3" name="card Insights (from notebook outputs)"/>
          <p:cNvSpPr/>
          <p:nvPr/>
        </p:nvSpPr>
        <p:spPr>
          <a:xfrm>
            <a:off x="548640" y="1280160"/>
            <a:ext cx="6858000" cy="4892040"/>
          </a:xfrm>
          <a:prstGeom prst="rect">
            <a:avLst/>
          </a:prstGeom>
          <a:solidFill>
            <a:schemeClr val="bg2"/>
          </a:solidFill>
          <a:ln w="12700">
            <a:solidFill>
              <a:schemeClr val="bg2"/>
            </a:solidFill>
            <a:prstDash val="solid"/>
          </a:ln>
        </p:spPr>
      </p:sp>
      <p:sp>
        <p:nvSpPr>
          <p:cNvPr id="4" name="Shape 2"/>
          <p:cNvSpPr/>
          <p:nvPr/>
        </p:nvSpPr>
        <p:spPr>
          <a:xfrm>
            <a:off x="548640" y="1280160"/>
            <a:ext cx="54864" cy="4892040"/>
          </a:xfrm>
          <a:prstGeom prst="rect">
            <a:avLst/>
          </a:prstGeom>
          <a:solidFill>
            <a:schemeClr val="accent1"/>
          </a:solidFill>
          <a:ln w="12700">
            <a:solidFill>
              <a:schemeClr val="accent1"/>
            </a:solidFill>
            <a:prstDash val="solid"/>
          </a:ln>
        </p:spPr>
      </p:sp>
      <p:sp>
        <p:nvSpPr>
          <p:cNvPr id="5" name="Text 3"/>
          <p:cNvSpPr txBox="1"/>
          <p:nvPr/>
        </p:nvSpPr>
        <p:spPr>
          <a:xfrm>
            <a:off x="777240" y="1389888"/>
            <a:ext cx="6492240" cy="320040"/>
          </a:xfrm>
          <a:prstGeom prst="rect">
            <a:avLst/>
          </a:prstGeom>
          <a:noFill/>
          <a:ln/>
        </p:spPr>
        <p:txBody>
          <a:bodyPr wrap="square" lIns="0" tIns="0" rIns="0" bIns="0" rtlCol="0" anchor="t"/>
          <a:lstStyle/>
          <a:p>
            <a:pPr indent="0" marL="0">
              <a:buNone/>
            </a:pPr>
            <a:r>
              <a:rPr lang="en-US" sz="1500" b="1" dirty="0">
                <a:solidFill>
                  <a:schemeClr val="tx2"/>
                </a:solidFill>
              </a:rPr>
              <a:t>Insights (from notebook outputs)</a:t>
            </a:r>
            <a:endParaRPr lang="en-US" sz="1500" dirty="0"/>
          </a:p>
        </p:txBody>
      </p:sp>
      <p:sp>
        <p:nvSpPr>
          <p:cNvPr id="6" name="Text 4"/>
          <p:cNvSpPr txBox="1"/>
          <p:nvPr/>
        </p:nvSpPr>
        <p:spPr>
          <a:xfrm>
            <a:off x="777240" y="1755648"/>
            <a:ext cx="6492240" cy="434340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chemeClr val="tx1"/>
                </a:solidFill>
              </a:rPr>
              <a:t>Priority: 'unknown' 33,965 tickets, Medium 24,788, Lowest 84.</a:t>
            </a:r>
            <a:endParaRPr lang="en-US" sz="1250" dirty="0"/>
          </a:p>
          <a:p>
            <a:pPr marL="342900" indent="-342900">
              <a:spcAft>
                <a:spcPts val="700"/>
              </a:spcAft>
              <a:buSzPct val="100000"/>
              <a:buChar char="•"/>
            </a:pPr>
            <a:r>
              <a:rPr lang="en-US" sz="1250" dirty="0">
                <a:solidFill>
                  <a:schemeClr val="tx1"/>
                </a:solidFill>
              </a:rPr>
              <a:t>Issue type: "Ticket" accounts for 45,275 of 66,691.</a:t>
            </a:r>
            <a:endParaRPr lang="en-US" sz="1250" dirty="0"/>
          </a:p>
          <a:p>
            <a:pPr marL="342900" indent="-342900">
              <a:spcAft>
                <a:spcPts val="700"/>
              </a:spcAft>
              <a:buSzPct val="100000"/>
              <a:buChar char="•"/>
            </a:pPr>
            <a:r>
              <a:rPr lang="en-US" sz="1250" dirty="0">
                <a:solidFill>
                  <a:schemeClr val="tx1"/>
                </a:solidFill>
              </a:rPr>
              <a:t>Projects: t.n2 has the most tickets (2,213), then C06hg2xcu (1,994).</a:t>
            </a:r>
            <a:endParaRPr lang="en-US" sz="1250" dirty="0"/>
          </a:p>
          <a:p>
            <a:pPr marL="342900" indent="-342900">
              <a:spcAft>
                <a:spcPts val="700"/>
              </a:spcAft>
              <a:buSzPct val="100000"/>
              <a:buChar char="•"/>
            </a:pPr>
            <a:r>
              <a:rPr lang="en-US" sz="1250" dirty="0">
                <a:solidFill>
                  <a:schemeClr val="tx1"/>
                </a:solidFill>
              </a:rPr>
              <a:t>Resolution time (65,838 resolved tickets): mean 18,482.5 h, median 837.8 h, max 99,220.5 h, std 27,805.7 h; mean far above median.</a:t>
            </a:r>
            <a:endParaRPr lang="en-US" sz="1250" dirty="0"/>
          </a:p>
          <a:p>
            <a:pPr marL="342900" indent="-342900">
              <a:spcAft>
                <a:spcPts val="700"/>
              </a:spcAft>
              <a:buSzPct val="100000"/>
              <a:buChar char="•"/>
            </a:pPr>
            <a:r>
              <a:rPr lang="en-US" sz="1250" dirty="0">
                <a:solidFill>
                  <a:schemeClr val="tx1"/>
                </a:solidFill>
              </a:rPr>
              <a:t>By priority: 'unknown' median 34,149 h; all other priorities 90.6–238.5 h.</a:t>
            </a:r>
            <a:endParaRPr lang="en-US" sz="1250" dirty="0"/>
          </a:p>
          <a:p>
            <a:pPr marL="342900" indent="-342900">
              <a:spcAft>
                <a:spcPts val="700"/>
              </a:spcAft>
              <a:buSzPct val="100000"/>
              <a:buChar char="•"/>
            </a:pPr>
            <a:r>
              <a:rPr lang="en-US" sz="1250" dirty="0">
                <a:solidFill>
                  <a:schemeClr val="tx1"/>
                </a:solidFill>
              </a:rPr>
              <a:t>By issue type: Subtask has the highest mean (51,587 h); Assistance the lowest (306.8 h).</a:t>
            </a:r>
            <a:endParaRPr lang="en-US" sz="1250" dirty="0"/>
          </a:p>
          <a:p>
            <a:pPr marL="342900" indent="-342900">
              <a:spcAft>
                <a:spcPts val="700"/>
              </a:spcAft>
              <a:buSzPct val="100000"/>
              <a:buChar char="•"/>
            </a:pPr>
            <a:r>
              <a:rPr lang="en-US" sz="1250" dirty="0">
                <a:solidFill>
                  <a:schemeClr val="tx1"/>
                </a:solidFill>
              </a:rPr>
              <a:t>Monthly: highest in month 1 (6,261), lowest in month 6 (4,889).</a:t>
            </a:r>
            <a:endParaRPr lang="en-US" sz="1250" dirty="0"/>
          </a:p>
          <a:p>
            <a:pPr marL="342900" indent="-342900">
              <a:spcAft>
                <a:spcPts val="700"/>
              </a:spcAft>
              <a:buSzPct val="100000"/>
              <a:buChar char="•"/>
            </a:pPr>
            <a:r>
              <a:rPr lang="en-US" sz="1250" dirty="0">
                <a:solidFill>
                  <a:schemeClr val="tx1"/>
                </a:solidFill>
              </a:rPr>
              <a:t>Comments show no consistent trend with mean resolution time; 1-contributor tickets average 22,092 h vs 818 h for 2 contributors.</a:t>
            </a:r>
            <a:endParaRPr lang="en-US" sz="1250" dirty="0"/>
          </a:p>
        </p:txBody>
      </p:sp>
      <p:sp>
        <p:nvSpPr>
          <p:cNvPr id="7" name="card Recommendations"/>
          <p:cNvSpPr/>
          <p:nvPr/>
        </p:nvSpPr>
        <p:spPr>
          <a:xfrm>
            <a:off x="7680960" y="1280160"/>
            <a:ext cx="3931920" cy="4892040"/>
          </a:xfrm>
          <a:prstGeom prst="rect">
            <a:avLst/>
          </a:prstGeom>
          <a:solidFill>
            <a:schemeClr val="bg2"/>
          </a:solidFill>
          <a:ln w="12700">
            <a:solidFill>
              <a:schemeClr val="bg2"/>
            </a:solidFill>
            <a:prstDash val="solid"/>
          </a:ln>
        </p:spPr>
      </p:sp>
      <p:sp>
        <p:nvSpPr>
          <p:cNvPr id="8" name="Shape 6"/>
          <p:cNvSpPr/>
          <p:nvPr/>
        </p:nvSpPr>
        <p:spPr>
          <a:xfrm>
            <a:off x="7680960" y="1280160"/>
            <a:ext cx="54864" cy="4892040"/>
          </a:xfrm>
          <a:prstGeom prst="rect">
            <a:avLst/>
          </a:prstGeom>
          <a:solidFill>
            <a:schemeClr val="accent3"/>
          </a:solidFill>
          <a:ln w="12700">
            <a:solidFill>
              <a:schemeClr val="accent3"/>
            </a:solidFill>
            <a:prstDash val="solid"/>
          </a:ln>
        </p:spPr>
      </p:sp>
      <p:sp>
        <p:nvSpPr>
          <p:cNvPr id="9" name="Text 7"/>
          <p:cNvSpPr txBox="1"/>
          <p:nvPr/>
        </p:nvSpPr>
        <p:spPr>
          <a:xfrm>
            <a:off x="7909560" y="1389888"/>
            <a:ext cx="3566160" cy="320040"/>
          </a:xfrm>
          <a:prstGeom prst="rect">
            <a:avLst/>
          </a:prstGeom>
          <a:noFill/>
          <a:ln/>
        </p:spPr>
        <p:txBody>
          <a:bodyPr wrap="square" lIns="0" tIns="0" rIns="0" bIns="0" rtlCol="0" anchor="t"/>
          <a:lstStyle/>
          <a:p>
            <a:pPr indent="0" marL="0">
              <a:buNone/>
            </a:pPr>
            <a:r>
              <a:rPr lang="en-US" sz="1500" b="1" dirty="0">
                <a:solidFill>
                  <a:schemeClr val="tx2"/>
                </a:solidFill>
              </a:rPr>
              <a:t>Recommendations</a:t>
            </a:r>
            <a:endParaRPr lang="en-US" sz="1500" dirty="0"/>
          </a:p>
        </p:txBody>
      </p:sp>
      <p:sp>
        <p:nvSpPr>
          <p:cNvPr id="10" name="Text 8"/>
          <p:cNvSpPr txBox="1"/>
          <p:nvPr/>
        </p:nvSpPr>
        <p:spPr>
          <a:xfrm>
            <a:off x="7909560" y="1755648"/>
            <a:ext cx="3566160" cy="43434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Review why 33,965 tickets have 'unknown' priority; this group also has the longest resolution times.</a:t>
            </a:r>
            <a:endParaRPr lang="en-US" sz="1400" dirty="0"/>
          </a:p>
          <a:p>
            <a:pPr marL="342900" indent="-342900">
              <a:spcAft>
                <a:spcPts val="1000"/>
              </a:spcAft>
              <a:buSzPct val="100000"/>
              <a:buChar char="•"/>
            </a:pPr>
            <a:r>
              <a:rPr lang="en-US" sz="1400" dirty="0">
                <a:solidFill>
                  <a:schemeClr val="tx1"/>
                </a:solidFill>
              </a:rPr>
              <a:t>Report median alongside mean for resolution time, as the distribution is strongly skewed.</a:t>
            </a:r>
            <a:endParaRPr lang="en-US" sz="1400" dirty="0"/>
          </a:p>
          <a:p>
            <a:pPr marL="342900" indent="-342900">
              <a:spcAft>
                <a:spcPts val="1000"/>
              </a:spcAft>
              <a:buSzPct val="100000"/>
              <a:buChar char="•"/>
            </a:pPr>
            <a:r>
              <a:rPr lang="en-US" sz="1400" dirty="0">
                <a:solidFill>
                  <a:schemeClr val="tx1"/>
                </a:solidFill>
              </a:rPr>
              <a:t>Comments / contributors / monthly volume: Further analysis is required before making a specific recommendation.</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Conclusion</a:t>
            </a:r>
            <a:endParaRPr lang="en-US" sz="2800" dirty="0"/>
          </a:p>
        </p:txBody>
      </p:sp>
      <p:sp>
        <p:nvSpPr>
          <p:cNvPr id="3" name="card Summary"/>
          <p:cNvSpPr/>
          <p:nvPr/>
        </p:nvSpPr>
        <p:spPr>
          <a:xfrm>
            <a:off x="548640" y="1280160"/>
            <a:ext cx="6583680" cy="3657600"/>
          </a:xfrm>
          <a:prstGeom prst="rect">
            <a:avLst/>
          </a:prstGeom>
          <a:solidFill>
            <a:schemeClr val="bg2"/>
          </a:solidFill>
          <a:ln w="12700">
            <a:solidFill>
              <a:schemeClr val="bg2"/>
            </a:solidFill>
            <a:prstDash val="solid"/>
          </a:ln>
        </p:spPr>
      </p:sp>
      <p:sp>
        <p:nvSpPr>
          <p:cNvPr id="4" name="Shape 2"/>
          <p:cNvSpPr/>
          <p:nvPr/>
        </p:nvSpPr>
        <p:spPr>
          <a:xfrm>
            <a:off x="548640" y="1280160"/>
            <a:ext cx="54864" cy="3657600"/>
          </a:xfrm>
          <a:prstGeom prst="rect">
            <a:avLst/>
          </a:prstGeom>
          <a:solidFill>
            <a:schemeClr val="accent1"/>
          </a:solidFill>
          <a:ln w="12700">
            <a:solidFill>
              <a:schemeClr val="accent1"/>
            </a:solidFill>
            <a:prstDash val="solid"/>
          </a:ln>
        </p:spPr>
      </p:sp>
      <p:sp>
        <p:nvSpPr>
          <p:cNvPr id="5" name="Text 3"/>
          <p:cNvSpPr txBox="1"/>
          <p:nvPr/>
        </p:nvSpPr>
        <p:spPr>
          <a:xfrm>
            <a:off x="777240" y="1389888"/>
            <a:ext cx="6217920" cy="320040"/>
          </a:xfrm>
          <a:prstGeom prst="rect">
            <a:avLst/>
          </a:prstGeom>
          <a:noFill/>
          <a:ln/>
        </p:spPr>
        <p:txBody>
          <a:bodyPr wrap="square" lIns="0" tIns="0" rIns="0" bIns="0" rtlCol="0" anchor="t"/>
          <a:lstStyle/>
          <a:p>
            <a:pPr indent="0" marL="0">
              <a:buNone/>
            </a:pPr>
            <a:r>
              <a:rPr lang="en-US" sz="1500" b="1" dirty="0">
                <a:solidFill>
                  <a:schemeClr val="tx2"/>
                </a:solidFill>
              </a:rPr>
              <a:t>Summary</a:t>
            </a:r>
            <a:endParaRPr lang="en-US" sz="1500" dirty="0"/>
          </a:p>
        </p:txBody>
      </p:sp>
      <p:sp>
        <p:nvSpPr>
          <p:cNvPr id="6" name="Text 4"/>
          <p:cNvSpPr txBox="1"/>
          <p:nvPr/>
        </p:nvSpPr>
        <p:spPr>
          <a:xfrm>
            <a:off x="777240" y="1755648"/>
            <a:ext cx="6217920" cy="310896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rPr>
              <a:t>IT helpdesk ticket dataset analyzed using Python.</a:t>
            </a:r>
            <a:endParaRPr lang="en-US" sz="1600" dirty="0"/>
          </a:p>
          <a:p>
            <a:pPr marL="342900" indent="-342900">
              <a:spcAft>
                <a:spcPts val="900"/>
              </a:spcAft>
              <a:buSzPct val="100000"/>
              <a:buChar char="•"/>
            </a:pPr>
            <a:r>
              <a:rPr lang="en-US" sz="1600" dirty="0">
                <a:solidFill>
                  <a:schemeClr val="tx1"/>
                </a:solidFill>
              </a:rPr>
              <a:t>Relevant data cleaned and transformed.</a:t>
            </a:r>
            <a:endParaRPr lang="en-US" sz="1600" dirty="0"/>
          </a:p>
          <a:p>
            <a:pPr marL="342900" indent="-342900">
              <a:spcAft>
                <a:spcPts val="900"/>
              </a:spcAft>
              <a:buSzPct val="100000"/>
              <a:buChar char="•"/>
            </a:pPr>
            <a:r>
              <a:rPr lang="en-US" sz="1600" dirty="0">
                <a:solidFill>
                  <a:schemeClr val="tx1"/>
                </a:solidFill>
              </a:rPr>
              <a:t>Priority, issue type, projects, resolution time, comments, contributors and monthly volume analyzed.</a:t>
            </a:r>
            <a:endParaRPr lang="en-US" sz="1600" dirty="0"/>
          </a:p>
          <a:p>
            <a:pPr marL="342900" indent="-342900">
              <a:spcAft>
                <a:spcPts val="900"/>
              </a:spcAft>
              <a:buSzPct val="100000"/>
              <a:buChar char="•"/>
            </a:pPr>
            <a:r>
              <a:rPr lang="en-US" sz="1600" dirty="0">
                <a:solidFill>
                  <a:schemeClr val="tx1"/>
                </a:solidFill>
              </a:rPr>
              <a:t>Resolution time calculated from ticket creation and resolution dates.</a:t>
            </a:r>
            <a:endParaRPr lang="en-US" sz="1600" dirty="0"/>
          </a:p>
          <a:p>
            <a:pPr marL="342900" indent="-342900">
              <a:spcAft>
                <a:spcPts val="900"/>
              </a:spcAft>
              <a:buSzPct val="100000"/>
              <a:buChar char="•"/>
            </a:pPr>
            <a:r>
              <a:rPr lang="en-US" sz="1600" dirty="0">
                <a:solidFill>
                  <a:schemeClr val="tx1"/>
                </a:solidFill>
              </a:rPr>
              <a:t>NumPy: statistics  |  Pandas: processing  |  Matplotlib: visualization</a:t>
            </a:r>
            <a:endParaRPr lang="en-US" sz="1600" dirty="0"/>
          </a:p>
        </p:txBody>
      </p:sp>
      <p:sp>
        <p:nvSpPr>
          <p:cNvPr id="7" name="card Future Scope"/>
          <p:cNvSpPr/>
          <p:nvPr/>
        </p:nvSpPr>
        <p:spPr>
          <a:xfrm>
            <a:off x="7406640" y="1280160"/>
            <a:ext cx="4206240" cy="3657600"/>
          </a:xfrm>
          <a:prstGeom prst="rect">
            <a:avLst/>
          </a:prstGeom>
          <a:solidFill>
            <a:schemeClr val="bg2"/>
          </a:solidFill>
          <a:ln w="12700">
            <a:solidFill>
              <a:schemeClr val="bg2"/>
            </a:solidFill>
            <a:prstDash val="solid"/>
          </a:ln>
        </p:spPr>
      </p:sp>
      <p:sp>
        <p:nvSpPr>
          <p:cNvPr id="8" name="Shape 6"/>
          <p:cNvSpPr/>
          <p:nvPr/>
        </p:nvSpPr>
        <p:spPr>
          <a:xfrm>
            <a:off x="7406640" y="1280160"/>
            <a:ext cx="54864" cy="3657600"/>
          </a:xfrm>
          <a:prstGeom prst="rect">
            <a:avLst/>
          </a:prstGeom>
          <a:solidFill>
            <a:schemeClr val="accent2"/>
          </a:solidFill>
          <a:ln w="12700">
            <a:solidFill>
              <a:schemeClr val="accent2"/>
            </a:solidFill>
            <a:prstDash val="solid"/>
          </a:ln>
        </p:spPr>
      </p:sp>
      <p:sp>
        <p:nvSpPr>
          <p:cNvPr id="9" name="Text 7"/>
          <p:cNvSpPr txBox="1"/>
          <p:nvPr/>
        </p:nvSpPr>
        <p:spPr>
          <a:xfrm>
            <a:off x="7635240" y="1389888"/>
            <a:ext cx="3840480" cy="320040"/>
          </a:xfrm>
          <a:prstGeom prst="rect">
            <a:avLst/>
          </a:prstGeom>
          <a:noFill/>
          <a:ln/>
        </p:spPr>
        <p:txBody>
          <a:bodyPr wrap="square" lIns="0" tIns="0" rIns="0" bIns="0" rtlCol="0" anchor="t"/>
          <a:lstStyle/>
          <a:p>
            <a:pPr indent="0" marL="0">
              <a:buNone/>
            </a:pPr>
            <a:r>
              <a:rPr lang="en-US" sz="1500" b="1" dirty="0">
                <a:solidFill>
                  <a:schemeClr val="tx2"/>
                </a:solidFill>
              </a:rPr>
              <a:t>Future Scope</a:t>
            </a:r>
            <a:endParaRPr lang="en-US" sz="1500" dirty="0"/>
          </a:p>
        </p:txBody>
      </p:sp>
      <p:sp>
        <p:nvSpPr>
          <p:cNvPr id="10" name="Text 8"/>
          <p:cNvSpPr txBox="1"/>
          <p:nvPr/>
        </p:nvSpPr>
        <p:spPr>
          <a:xfrm>
            <a:off x="7635240" y="1755648"/>
            <a:ext cx="384048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The cleaned and analyzed dataset can support future work on resolution-time prediction.</a:t>
            </a:r>
            <a:endParaRPr lang="en-US" sz="1600" dirty="0"/>
          </a:p>
          <a:p>
            <a:pPr marL="342900" indent="-342900">
              <a:spcAft>
                <a:spcPts val="1000"/>
              </a:spcAft>
              <a:buSzPct val="100000"/>
              <a:buChar char="•"/>
            </a:pPr>
            <a:r>
              <a:rPr lang="en-US" sz="1600" dirty="0">
                <a:solidFill>
                  <a:schemeClr val="tx1"/>
                </a:solidFill>
              </a:rPr>
              <a:t>No machine-learning model was built in Sprint 1.</a:t>
            </a:r>
            <a:endParaRPr lang="en-US" sz="1600" dirty="0"/>
          </a:p>
        </p:txBody>
      </p:sp>
      <p:sp>
        <p:nvSpPr>
          <p:cNvPr id="11" name="Shape 9"/>
          <p:cNvSpPr/>
          <p:nvPr/>
        </p:nvSpPr>
        <p:spPr>
          <a:xfrm>
            <a:off x="548640" y="5212080"/>
            <a:ext cx="11064240" cy="960120"/>
          </a:xfrm>
          <a:prstGeom prst="rect">
            <a:avLst/>
          </a:prstGeom>
          <a:solidFill>
            <a:schemeClr val="tx2"/>
          </a:solidFill>
          <a:ln w="12700">
            <a:solidFill>
              <a:schemeClr val="tx2"/>
            </a:solidFill>
            <a:prstDash val="solid"/>
          </a:ln>
        </p:spPr>
      </p:sp>
      <p:sp>
        <p:nvSpPr>
          <p:cNvPr id="12" name="Text 10"/>
          <p:cNvSpPr txBox="1"/>
          <p:nvPr/>
        </p:nvSpPr>
        <p:spPr>
          <a:xfrm>
            <a:off x="822960" y="5212080"/>
            <a:ext cx="10515600" cy="960120"/>
          </a:xfrm>
          <a:prstGeom prst="rect">
            <a:avLst/>
          </a:prstGeom>
          <a:noFill/>
          <a:ln/>
        </p:spPr>
        <p:txBody>
          <a:bodyPr wrap="square" lIns="0" tIns="0" rIns="0" bIns="0" rtlCol="0" anchor="ctr"/>
          <a:lstStyle/>
          <a:p>
            <a:pPr indent="0" marL="0">
              <a:buNone/>
            </a:pPr>
            <a:r>
              <a:rPr lang="en-US" sz="1600" b="1" dirty="0">
                <a:solidFill>
                  <a:schemeClr val="bg1"/>
                </a:solidFill>
              </a:rPr>
              <a:t>Overall, the project establishes a structured data-analysis foundation for understanding IT helpdesk ticket patterns and resolution behavior.</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ITHelpdesk">
  <a:themeElements>
    <a:clrScheme name="ITHelpdesk">
      <a:dk1>
        <a:srgbClr val="1F2937"/>
      </a:dk1>
      <a:lt1>
        <a:srgbClr val="FFFFFF"/>
      </a:lt1>
      <a:dk2>
        <a:srgbClr val="0B2545"/>
      </a:dk2>
      <a:lt2>
        <a:srgbClr val="EEF3F8"/>
      </a:lt2>
      <a:accent1>
        <a:srgbClr val="0F766E"/>
      </a:accent1>
      <a:accent2>
        <a:srgbClr val="1D4ED8"/>
      </a:accent2>
      <a:accent3>
        <a:srgbClr val="B45309"/>
      </a:accent3>
      <a:accent4>
        <a:srgbClr val="64748B"/>
      </a:accent4>
      <a:accent5>
        <a:srgbClr val="7C3AED"/>
      </a:accent5>
      <a:accent6>
        <a:srgbClr val="BE123C"/>
      </a:accent6>
      <a:hlink>
        <a:srgbClr val="1D4ED8"/>
      </a:hlink>
      <a:folHlink>
        <a:srgbClr val="7C3AED"/>
      </a:folHlink>
    </a:clrScheme>
    <a:fontScheme name="ITHelpdes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IT Helpdesk Ticket Analysis &amp; Resolution Prediction</dc:title>
  <dc:subject>PptxGenJS Presentation</dc:subject>
  <dc:creator>Gowtham M</dc:creator>
  <cp:lastModifiedBy>Gowtham M</cp:lastModifiedBy>
  <cp:revision>1</cp:revision>
  <dcterms:created xsi:type="dcterms:W3CDTF">2026-10-06T20:46:11Z</dcterms:created>
  <dcterms:modified xsi:type="dcterms:W3CDTF">2026-10-06T20:46:11Z</dcterms:modified>
</cp:coreProperties>
</file>